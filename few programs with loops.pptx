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83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307" r:id="rId13"/>
    <p:sldId id="308" r:id="rId14"/>
    <p:sldId id="309" r:id="rId15"/>
    <p:sldId id="310" r:id="rId16"/>
    <p:sldId id="293" r:id="rId17"/>
    <p:sldId id="294" r:id="rId18"/>
    <p:sldId id="295" r:id="rId19"/>
    <p:sldId id="306" r:id="rId20"/>
    <p:sldId id="296" r:id="rId21"/>
    <p:sldId id="297" r:id="rId22"/>
    <p:sldId id="298" r:id="rId23"/>
    <p:sldId id="257" r:id="rId24"/>
    <p:sldId id="258" r:id="rId25"/>
    <p:sldId id="281" r:id="rId26"/>
    <p:sldId id="282" r:id="rId27"/>
    <p:sldId id="311" r:id="rId28"/>
    <p:sldId id="259" r:id="rId29"/>
    <p:sldId id="279" r:id="rId30"/>
  </p:sldIdLst>
  <p:sldSz cx="12192000" cy="6858000"/>
  <p:notesSz cx="6858000" cy="9144000"/>
  <p:defaultTextStyle>
    <a:defPPr>
      <a:defRPr lang="en-B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64"/>
    <p:restoredTop sz="94719"/>
  </p:normalViewPr>
  <p:slideViewPr>
    <p:cSldViewPr snapToGrid="0">
      <p:cViewPr varScale="1">
        <p:scale>
          <a:sx n="147" d="100"/>
          <a:sy n="147" d="100"/>
        </p:scale>
        <p:origin x="13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4D8152-4812-ED47-9A7E-417CDA26DD53}" type="datetimeFigureOut">
              <a:rPr lang="en-BD" smtClean="0"/>
              <a:t>27/10/24</a:t>
            </a:fld>
            <a:endParaRPr lang="en-B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F9A26B-509B-C446-8E00-DF098970625F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318047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84E06-C139-4106-3802-8F590E430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7DBAF0-815F-F410-721F-B749765340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415F5-C912-9458-2CBF-FFDD0FBCF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BD90-02CD-9446-802E-A3D4D01E05CC}" type="datetime1">
              <a:rPr lang="en-US" smtClean="0"/>
              <a:t>10/27/24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3232D-427D-647C-6487-5C9E8CAE9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CFE5A-E66B-D282-BC1C-75C6D8A04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480595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B8F5A-B9F1-9514-5B57-15E88EDCE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C7F04-AD4A-1816-9AF2-DFAAD3F59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506A8-BEBE-82E2-57AC-CF9216D82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3E5E7-8FE0-D540-B4FD-E3F917896102}" type="datetime1">
              <a:rPr lang="en-US" smtClean="0"/>
              <a:t>10/27/24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A95E2-420C-FD7D-53F2-03FF4C236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BD077-8B5E-E1F3-96B0-DD7B126EF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732129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C8B6-7A79-D23C-8D4E-3A8E16BB9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DC3873-A707-E692-8286-B0FB5FA7F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11443-4D18-A83F-2F38-87892E7CE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DACA-E88B-D947-B057-F790BAACBA80}" type="datetime1">
              <a:rPr lang="en-US" smtClean="0"/>
              <a:t>10/27/24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182D0-B882-1454-821A-F3DA51DCB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EF67D-8B45-9F07-EC47-32D39940A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599062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2A369-47B3-4595-F415-802840875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4DDF7-E2EA-368C-B26A-CABCDAF736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6563BE-0565-2821-B6C5-5C50600F1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8EF323-C556-191D-3ED9-BF38B3215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9E048-B620-BA46-B185-207E6524DEC5}" type="datetime1">
              <a:rPr lang="en-US" smtClean="0"/>
              <a:t>10/27/24</a:t>
            </a:fld>
            <a:endParaRPr lang="e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7437E-2E1B-B953-EAD3-97E8A6A9A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03EA4-3284-6A2A-CE63-3CE4D6B29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4151363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5BD80-3CB5-2B86-C97F-41898526C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03E31-FE47-2A42-BF16-2C34BF0DD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D80553-A0C9-79A0-B784-512EAFA24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A63B5D-5A73-1C5F-ED20-98F6AF7237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D9EFCF-9A41-936F-E0CC-191BB145C0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5BD8B3-F28A-B7EF-D465-E1B38CF60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F4515-3A39-D943-91A5-DDB89AD5FCAB}" type="datetime1">
              <a:rPr lang="en-US" smtClean="0"/>
              <a:t>10/27/24</a:t>
            </a:fld>
            <a:endParaRPr lang="en-B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241919-CAF5-71D2-067D-3C26BC10A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1F3F02-6F7B-67F3-47E4-4E8B79814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804904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D2444-848C-5E8B-5C5A-852BA3B5B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279EE0-087F-5B29-485A-D20108383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25DE6-5193-A34B-97EF-89881F2FB2CB}" type="datetime1">
              <a:rPr lang="en-US" smtClean="0"/>
              <a:t>10/27/24</a:t>
            </a:fld>
            <a:endParaRPr lang="en-B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0E2D6B-0EA6-36E8-777F-54E76258F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5A4A9B-6165-1E4E-CEFD-D7B962600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868719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0175E8-47D0-AFE3-68A7-C953B22A8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9730-5C0D-FD4C-B321-49A506AF26EE}" type="datetime1">
              <a:rPr lang="en-US" smtClean="0"/>
              <a:t>10/27/24</a:t>
            </a:fld>
            <a:endParaRPr lang="en-B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38CEB9-8B62-D503-FCAF-28270FCB6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5BE54-129C-0690-EF44-D47AB55B9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475796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B54E1-99F1-7470-D2B3-58DF10E28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9165A-93EE-E65F-AF39-8466A269C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71B593-C318-FF8C-9B72-E9C237C0B5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6EA52-040B-7A57-895F-52597B395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DCB7E-41C6-CB41-8BF8-255A63CB5493}" type="datetime1">
              <a:rPr lang="en-US" smtClean="0"/>
              <a:t>10/27/24</a:t>
            </a:fld>
            <a:endParaRPr lang="e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E4B46C-AFDD-D532-06CE-F921E74F4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117F47-423D-C3FB-820C-55B086749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4171042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6CBA2-27B6-27C7-17AF-3174A43C5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6FF44F-E688-BB63-60AC-E4E23B87DC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964A39-6DA9-C52E-C01C-B5DD60574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947D8E-9F54-82B0-BE54-B27C3E286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93A4-4391-2B44-A062-6056AE0DC884}" type="datetime1">
              <a:rPr lang="en-US" smtClean="0"/>
              <a:t>10/27/24</a:t>
            </a:fld>
            <a:endParaRPr lang="en-B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A92B80-8AC0-4355-9A58-997860F73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3E92CF-1D2B-82B9-1E5B-42E6B1856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650799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5EEE8-E1B5-43BC-9BAB-0C9B2D554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57AAB9-375D-4009-FB8D-D8F0038149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E4D19-B3FD-717D-957F-E69138883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CAB1C-26FB-474A-B58E-CE0F208817DF}" type="datetime1">
              <a:rPr lang="en-US" smtClean="0"/>
              <a:t>10/27/24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E7A28-D2F9-9345-C76F-7AB12B930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5B2C6-E52A-5447-3446-3CCF7770F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974031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594BD7-11E5-4A7D-1EDF-FAA7C456B8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6E756B-FC44-33D6-0877-280ABCEDFD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1D026-C34F-EED2-B80E-3B869B92C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FDB6-1FA8-1E44-A1B9-630B2EE172BB}" type="datetime1">
              <a:rPr lang="en-US" smtClean="0"/>
              <a:t>10/27/24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4A73B-B505-0083-FC84-1675E6FB4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DCDAD-918B-9EDC-88C7-686A2CB1E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732173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6CA074-DE14-CA1C-9C20-1A552793B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9CA8BD-F275-5A46-8803-F8B968E72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34F42-B4C4-27DC-E172-EA62828608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02CA7E-CB8C-CA4C-A954-5E1F5804A0BA}" type="datetime1">
              <a:rPr lang="en-US" smtClean="0"/>
              <a:t>10/27/24</a:t>
            </a:fld>
            <a:endParaRPr lang="en-B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B43E1-1F17-1B79-02B2-48C350B3FF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EFB7F-FB1F-FCE0-B0CC-D7847E770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0B918A-40C5-B647-996E-A76884B03A50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62908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AACA9-14FB-D457-DEAF-089F00AB09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BD" dirty="0"/>
              <a:t>Few Programs with loop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D58642-E54E-E878-5DA7-64206DD7BD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BD" dirty="0"/>
              <a:t>Rakib Mahmud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D7D4C-0DE9-E5D1-F52A-BC5BB95F0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08EBE-F9B6-6540-8F82-E598CBD98EE6}" type="datetime1">
              <a:rPr lang="en-US" smtClean="0"/>
              <a:t>10/27/24</a:t>
            </a:fld>
            <a:endParaRPr lang="e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4D3957-3477-9D87-266D-03491D277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1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281983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12D43-CB6A-FA92-EB05-AC9CBC992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GCD and LCM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2AAA96-5873-664A-05F4-35FDB03086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BD" dirty="0"/>
                  <a:t>GCD = Greatest common divisor</a:t>
                </a:r>
              </a:p>
              <a:p>
                <a:r>
                  <a:rPr lang="en-BD" dirty="0"/>
                  <a:t>LCM = Least common multiple</a:t>
                </a:r>
              </a:p>
              <a:p>
                <a:r>
                  <a:rPr lang="en-GB" dirty="0"/>
                  <a:t>n</a:t>
                </a:r>
                <a:r>
                  <a:rPr lang="en-BD" dirty="0"/>
                  <a:t>um1= 60 = 2 * 2 * 3 * 5</a:t>
                </a:r>
              </a:p>
              <a:p>
                <a:r>
                  <a:rPr lang="en-GB" dirty="0"/>
                  <a:t>n</a:t>
                </a:r>
                <a:r>
                  <a:rPr lang="en-BD" dirty="0"/>
                  <a:t>um2 = 24 = 2 * 2 * 2 *3</a:t>
                </a:r>
              </a:p>
              <a:p>
                <a:r>
                  <a:rPr lang="en-BD" dirty="0"/>
                  <a:t>GCD ( 60, 24 ) = 12</a:t>
                </a:r>
              </a:p>
              <a:p>
                <a:r>
                  <a:rPr lang="en-BD" dirty="0"/>
                  <a:t>LCM (60, 24)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BD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𝑛𝑢𝑚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 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𝑛𝑢𝑚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𝐺𝐶𝐷</m:t>
                        </m:r>
                      </m:den>
                    </m:f>
                  </m:oMath>
                </a14:m>
                <a:r>
                  <a:rPr lang="en-BD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BD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60∗24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BD" dirty="0"/>
                  <a:t> = 120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2AAA96-5873-664A-05F4-35FDB03086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BD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BB5FE2-B6D5-E2DF-0197-2A780C7C67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382002"/>
              </p:ext>
            </p:extLst>
          </p:nvPr>
        </p:nvGraphicFramePr>
        <p:xfrm>
          <a:off x="7546679" y="3306748"/>
          <a:ext cx="348268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470">
                  <a:extLst>
                    <a:ext uri="{9D8B030D-6E8A-4147-A177-3AD203B41FA5}">
                      <a16:colId xmlns:a16="http://schemas.microsoft.com/office/drawing/2014/main" val="1601077174"/>
                    </a:ext>
                  </a:extLst>
                </a:gridCol>
                <a:gridCol w="886119">
                  <a:extLst>
                    <a:ext uri="{9D8B030D-6E8A-4147-A177-3AD203B41FA5}">
                      <a16:colId xmlns:a16="http://schemas.microsoft.com/office/drawing/2014/main" val="1695944638"/>
                    </a:ext>
                  </a:extLst>
                </a:gridCol>
                <a:gridCol w="1791093">
                  <a:extLst>
                    <a:ext uri="{9D8B030D-6E8A-4147-A177-3AD203B41FA5}">
                      <a16:colId xmlns:a16="http://schemas.microsoft.com/office/drawing/2014/main" val="33757834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BD" dirty="0"/>
                        <a:t>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D" dirty="0"/>
                        <a:t>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</a:t>
                      </a:r>
                      <a:r>
                        <a:rPr lang="en-BD" dirty="0"/>
                        <a:t>1%n2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2383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BD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D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D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902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BD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D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D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1579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BD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BD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094097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A8EA4E1-9EF7-1D87-7EB7-110313103E40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4081806" y="4048428"/>
            <a:ext cx="3464873" cy="710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14B593B-B576-B08F-815D-5297EAB38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F4F22-E27C-5E4F-850D-ACE1875C8BB5}" type="datetime1">
              <a:rPr lang="en-US" smtClean="0"/>
              <a:t>10/27/24</a:t>
            </a:fld>
            <a:endParaRPr lang="en-BD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3B6055D-EC11-2F99-49D7-48E6FB73D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2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898512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73B4F-38D8-D36C-87BC-F64CCD989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BD" dirty="0">
                <a:latin typeface="+mn-lt"/>
              </a:rPr>
              <a:t>Flowchart </a:t>
            </a:r>
            <a:r>
              <a:rPr lang="en-GB" i="0" dirty="0">
                <a:solidFill>
                  <a:srgbClr val="3A3A3A"/>
                </a:solidFill>
                <a:effectLst/>
                <a:highlight>
                  <a:srgbClr val="FFFFFF"/>
                </a:highlight>
                <a:latin typeface="+mn-lt"/>
              </a:rPr>
              <a:t>to find GCD and LCM of Two Integers</a:t>
            </a:r>
            <a:endParaRPr lang="en-BD" dirty="0">
              <a:latin typeface="+mn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E256367-3856-1DC9-E511-0CF976373014}"/>
              </a:ext>
            </a:extLst>
          </p:cNvPr>
          <p:cNvSpPr/>
          <p:nvPr/>
        </p:nvSpPr>
        <p:spPr>
          <a:xfrm>
            <a:off x="5175315" y="1690688"/>
            <a:ext cx="1074656" cy="48690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Start</a:t>
            </a:r>
          </a:p>
        </p:txBody>
      </p:sp>
      <p:sp>
        <p:nvSpPr>
          <p:cNvPr id="5" name="Data 4">
            <a:extLst>
              <a:ext uri="{FF2B5EF4-FFF2-40B4-BE49-F238E27FC236}">
                <a16:creationId xmlns:a16="http://schemas.microsoft.com/office/drawing/2014/main" id="{245A9852-9EC2-C791-77B5-675ED717EE9B}"/>
              </a:ext>
            </a:extLst>
          </p:cNvPr>
          <p:cNvSpPr/>
          <p:nvPr/>
        </p:nvSpPr>
        <p:spPr>
          <a:xfrm>
            <a:off x="4322189" y="2302320"/>
            <a:ext cx="2780907" cy="486904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Input num1,num2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59DBC5-E45D-1EAB-F8AA-E4F5A3F2CEEA}"/>
              </a:ext>
            </a:extLst>
          </p:cNvPr>
          <p:cNvSpPr/>
          <p:nvPr/>
        </p:nvSpPr>
        <p:spPr>
          <a:xfrm>
            <a:off x="4916078" y="2947323"/>
            <a:ext cx="1593130" cy="4869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n1 = num1</a:t>
            </a:r>
          </a:p>
          <a:p>
            <a:pPr algn="ctr"/>
            <a:r>
              <a:rPr lang="en-GB" dirty="0"/>
              <a:t>n2 = num2</a:t>
            </a:r>
            <a:endParaRPr lang="en-BD" dirty="0"/>
          </a:p>
        </p:txBody>
      </p:sp>
      <p:sp>
        <p:nvSpPr>
          <p:cNvPr id="7" name="Decision 6">
            <a:extLst>
              <a:ext uri="{FF2B5EF4-FFF2-40B4-BE49-F238E27FC236}">
                <a16:creationId xmlns:a16="http://schemas.microsoft.com/office/drawing/2014/main" id="{82DA0C82-6AB4-0696-3666-A3E4A454D893}"/>
              </a:ext>
            </a:extLst>
          </p:cNvPr>
          <p:cNvSpPr/>
          <p:nvPr/>
        </p:nvSpPr>
        <p:spPr>
          <a:xfrm>
            <a:off x="4817095" y="3581873"/>
            <a:ext cx="1791093" cy="486904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n2 !=0</a:t>
            </a:r>
            <a:endParaRPr lang="en-B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7A152F-B693-75D1-0062-AD779EF1BC98}"/>
              </a:ext>
            </a:extLst>
          </p:cNvPr>
          <p:cNvSpPr/>
          <p:nvPr/>
        </p:nvSpPr>
        <p:spPr>
          <a:xfrm>
            <a:off x="4817096" y="4324851"/>
            <a:ext cx="1692112" cy="8402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rem = n1%n2</a:t>
            </a:r>
          </a:p>
          <a:p>
            <a:pPr algn="ctr"/>
            <a:r>
              <a:rPr lang="en-GB" dirty="0"/>
              <a:t>n1= n2</a:t>
            </a:r>
          </a:p>
          <a:p>
            <a:pPr algn="ctr"/>
            <a:r>
              <a:rPr lang="en-GB" dirty="0"/>
              <a:t>n2=rem</a:t>
            </a:r>
            <a:endParaRPr lang="en-BD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9E9D09-3028-4C71-8159-F0BE55DBE0FD}"/>
              </a:ext>
            </a:extLst>
          </p:cNvPr>
          <p:cNvSpPr/>
          <p:nvPr/>
        </p:nvSpPr>
        <p:spPr>
          <a:xfrm>
            <a:off x="6916910" y="4222940"/>
            <a:ext cx="2780907" cy="8402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err="1"/>
              <a:t>gcd</a:t>
            </a:r>
            <a:r>
              <a:rPr lang="en-GB" dirty="0"/>
              <a:t> = n1</a:t>
            </a:r>
          </a:p>
          <a:p>
            <a:pPr algn="ctr"/>
            <a:r>
              <a:rPr lang="en-GB" dirty="0"/>
              <a:t>lcm=(num1*num2)/</a:t>
            </a:r>
            <a:r>
              <a:rPr lang="en-GB" dirty="0" err="1"/>
              <a:t>gcd</a:t>
            </a:r>
            <a:endParaRPr lang="en-GB" dirty="0"/>
          </a:p>
        </p:txBody>
      </p:sp>
      <p:sp>
        <p:nvSpPr>
          <p:cNvPr id="10" name="Data 9">
            <a:extLst>
              <a:ext uri="{FF2B5EF4-FFF2-40B4-BE49-F238E27FC236}">
                <a16:creationId xmlns:a16="http://schemas.microsoft.com/office/drawing/2014/main" id="{BBDDE514-C5D3-74BF-F665-3166E5068E35}"/>
              </a:ext>
            </a:extLst>
          </p:cNvPr>
          <p:cNvSpPr/>
          <p:nvPr/>
        </p:nvSpPr>
        <p:spPr>
          <a:xfrm>
            <a:off x="6916909" y="5259041"/>
            <a:ext cx="2780907" cy="486904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</a:t>
            </a:r>
            <a:r>
              <a:rPr lang="en-BD" dirty="0"/>
              <a:t>rint gcd, lcm 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27D9BD5-E0E1-390F-F3FF-6173B1D907E3}"/>
              </a:ext>
            </a:extLst>
          </p:cNvPr>
          <p:cNvSpPr/>
          <p:nvPr/>
        </p:nvSpPr>
        <p:spPr>
          <a:xfrm>
            <a:off x="7770034" y="5912291"/>
            <a:ext cx="1074656" cy="48690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end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32C8F20-D2ED-B32B-493C-DB4F465E7A2D}"/>
              </a:ext>
            </a:extLst>
          </p:cNvPr>
          <p:cNvCxnSpPr>
            <a:stCxn id="4" idx="4"/>
            <a:endCxn id="5" idx="1"/>
          </p:cNvCxnSpPr>
          <p:nvPr/>
        </p:nvCxnSpPr>
        <p:spPr>
          <a:xfrm>
            <a:off x="5712643" y="2177592"/>
            <a:ext cx="0" cy="124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0E90FCD-F922-3B98-A3EF-9A669219C29D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5712643" y="2789224"/>
            <a:ext cx="0" cy="1580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9848998-962E-34C8-2487-CBA726A38A9F}"/>
              </a:ext>
            </a:extLst>
          </p:cNvPr>
          <p:cNvCxnSpPr>
            <a:stCxn id="6" idx="2"/>
            <a:endCxn id="7" idx="0"/>
          </p:cNvCxnSpPr>
          <p:nvPr/>
        </p:nvCxnSpPr>
        <p:spPr>
          <a:xfrm flipH="1">
            <a:off x="5712642" y="3434227"/>
            <a:ext cx="1" cy="1476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82BE24B-7A15-29B2-B2CE-F9CED3CDBC1A}"/>
              </a:ext>
            </a:extLst>
          </p:cNvPr>
          <p:cNvCxnSpPr>
            <a:stCxn id="7" idx="2"/>
          </p:cNvCxnSpPr>
          <p:nvPr/>
        </p:nvCxnSpPr>
        <p:spPr>
          <a:xfrm flipH="1">
            <a:off x="5712641" y="4068777"/>
            <a:ext cx="1" cy="2205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FB627976-2255-B34C-3D9E-3EEB27BFD5EE}"/>
              </a:ext>
            </a:extLst>
          </p:cNvPr>
          <p:cNvCxnSpPr>
            <a:cxnSpLocks/>
            <a:stCxn id="8" idx="1"/>
            <a:endCxn id="7" idx="1"/>
          </p:cNvCxnSpPr>
          <p:nvPr/>
        </p:nvCxnSpPr>
        <p:spPr>
          <a:xfrm rot="10800000">
            <a:off x="4817096" y="3825325"/>
            <a:ext cx="1" cy="919672"/>
          </a:xfrm>
          <a:prstGeom prst="bentConnector3">
            <a:avLst>
              <a:gd name="adj1" fmla="val 228601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29FED8B6-8527-E217-BDB2-8390CE0B608C}"/>
              </a:ext>
            </a:extLst>
          </p:cNvPr>
          <p:cNvCxnSpPr>
            <a:cxnSpLocks/>
            <a:stCxn id="7" idx="3"/>
            <a:endCxn id="9" idx="0"/>
          </p:cNvCxnSpPr>
          <p:nvPr/>
        </p:nvCxnSpPr>
        <p:spPr>
          <a:xfrm>
            <a:off x="6608188" y="3825325"/>
            <a:ext cx="1699176" cy="39761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8B2037B-61D3-D739-9473-5FD88EE6E1B8}"/>
              </a:ext>
            </a:extLst>
          </p:cNvPr>
          <p:cNvCxnSpPr>
            <a:cxnSpLocks/>
            <a:stCxn id="9" idx="2"/>
            <a:endCxn id="10" idx="1"/>
          </p:cNvCxnSpPr>
          <p:nvPr/>
        </p:nvCxnSpPr>
        <p:spPr>
          <a:xfrm flipH="1">
            <a:off x="8307363" y="5063231"/>
            <a:ext cx="1" cy="195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08E5DCC-F3FF-7F82-E2A5-90D071928ED3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8307362" y="5745945"/>
            <a:ext cx="1" cy="1663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426FBCC-5D41-CDCD-F660-567FCE5ECEF6}"/>
              </a:ext>
            </a:extLst>
          </p:cNvPr>
          <p:cNvSpPr txBox="1"/>
          <p:nvPr/>
        </p:nvSpPr>
        <p:spPr>
          <a:xfrm>
            <a:off x="6916910" y="3518933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No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8EC59DC-7F32-E043-7D0C-C224AF39DCBD}"/>
              </a:ext>
            </a:extLst>
          </p:cNvPr>
          <p:cNvSpPr txBox="1"/>
          <p:nvPr/>
        </p:nvSpPr>
        <p:spPr>
          <a:xfrm>
            <a:off x="5905763" y="3994378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Yes</a:t>
            </a:r>
          </a:p>
        </p:txBody>
      </p:sp>
      <p:sp>
        <p:nvSpPr>
          <p:cNvPr id="49" name="Date Placeholder 48">
            <a:extLst>
              <a:ext uri="{FF2B5EF4-FFF2-40B4-BE49-F238E27FC236}">
                <a16:creationId xmlns:a16="http://schemas.microsoft.com/office/drawing/2014/main" id="{F357637E-C258-C79A-1A3B-5C4088BEC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F9A3E-BB0D-1D4D-81AB-D9910487DBC5}" type="datetime1">
              <a:rPr lang="en-US" smtClean="0"/>
              <a:t>10/27/24</a:t>
            </a:fld>
            <a:endParaRPr lang="en-BD"/>
          </a:p>
        </p:txBody>
      </p:sp>
      <p:sp>
        <p:nvSpPr>
          <p:cNvPr id="50" name="Slide Number Placeholder 49">
            <a:extLst>
              <a:ext uri="{FF2B5EF4-FFF2-40B4-BE49-F238E27FC236}">
                <a16:creationId xmlns:a16="http://schemas.microsoft.com/office/drawing/2014/main" id="{9006745C-E2E8-DB4D-6D58-A2378B3EA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3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681884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181DC-117A-170B-018B-2F79DED1F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i="0" dirty="0">
                <a:solidFill>
                  <a:srgbClr val="3A3A3A"/>
                </a:solidFill>
                <a:effectLst/>
                <a:highlight>
                  <a:srgbClr val="FFFFFF"/>
                </a:highlight>
                <a:latin typeface="+mn-lt"/>
              </a:rPr>
              <a:t>Algorithm to find GCD and LCM of Two Integers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AACF7-8FCB-B95E-F090-78F44B5A2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BD" dirty="0"/>
              <a:t>Start 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Input num1, num2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Set n1 = num1, n2 = num2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while (n2 !=0):</a:t>
            </a:r>
          </a:p>
          <a:p>
            <a:pPr lvl="1"/>
            <a:r>
              <a:rPr lang="en-GB" dirty="0"/>
              <a:t>reminder = n1%n2</a:t>
            </a:r>
          </a:p>
          <a:p>
            <a:pPr lvl="1"/>
            <a:r>
              <a:rPr lang="en-GB" dirty="0"/>
              <a:t>n1=n2</a:t>
            </a:r>
          </a:p>
          <a:p>
            <a:pPr lvl="1"/>
            <a:r>
              <a:rPr lang="en-GB" dirty="0"/>
              <a:t>n2 = reminder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err="1"/>
              <a:t>gcd</a:t>
            </a:r>
            <a:r>
              <a:rPr lang="en-GB" dirty="0"/>
              <a:t>=n1, lcm=(num1*num2)/</a:t>
            </a:r>
            <a:r>
              <a:rPr lang="en-GB" dirty="0" err="1"/>
              <a:t>gcd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Print </a:t>
            </a:r>
            <a:r>
              <a:rPr lang="en-GB" dirty="0" err="1"/>
              <a:t>gcd</a:t>
            </a:r>
            <a:r>
              <a:rPr lang="en-GB" dirty="0"/>
              <a:t>, lcm.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end</a:t>
            </a:r>
            <a:endParaRPr lang="en-BD" dirty="0"/>
          </a:p>
          <a:p>
            <a:endParaRPr lang="en-B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901D2-B0C3-EABE-06E6-92D9F8222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D2DD5-08D0-0847-8FE0-3B383E8A9937}" type="datetime1">
              <a:rPr lang="en-US" smtClean="0"/>
              <a:t>10/27/24</a:t>
            </a:fld>
            <a:endParaRPr lang="e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134C0D-D727-45AB-DF7F-84C5AC816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4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066012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6D8AD-BBFE-7FC1-D051-2A3209040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C program to</a:t>
            </a:r>
            <a:r>
              <a:rPr lang="en-GB" i="0" dirty="0">
                <a:solidFill>
                  <a:srgbClr val="3A3A3A"/>
                </a:solidFill>
                <a:effectLst/>
                <a:highlight>
                  <a:srgbClr val="FFFFFF"/>
                </a:highlight>
                <a:latin typeface="+mn-lt"/>
              </a:rPr>
              <a:t> </a:t>
            </a:r>
            <a:r>
              <a:rPr lang="en-GB" dirty="0">
                <a:solidFill>
                  <a:srgbClr val="3A3A3A"/>
                </a:solidFill>
                <a:highlight>
                  <a:srgbClr val="FFFFFF"/>
                </a:highlight>
                <a:latin typeface="+mn-lt"/>
              </a:rPr>
              <a:t>f</a:t>
            </a:r>
            <a:r>
              <a:rPr lang="en-GB" i="0" dirty="0">
                <a:solidFill>
                  <a:srgbClr val="3A3A3A"/>
                </a:solidFill>
                <a:effectLst/>
                <a:highlight>
                  <a:srgbClr val="FFFFFF"/>
                </a:highlight>
                <a:latin typeface="+mn-lt"/>
              </a:rPr>
              <a:t>ind GCD and LCM of Two Integers</a:t>
            </a:r>
            <a:endParaRPr lang="en-BD" dirty="0"/>
          </a:p>
        </p:txBody>
      </p:sp>
      <p:pic>
        <p:nvPicPr>
          <p:cNvPr id="5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7656A2A9-FFD6-BE49-8EAB-977B59461E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6616" y="1690687"/>
            <a:ext cx="6358011" cy="4802187"/>
          </a:xfr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2A7CC271-C5CA-5826-C03F-0BFDC7651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916" y="1688329"/>
            <a:ext cx="3921468" cy="284480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DDF69BB-15D3-E6A2-6B07-7FFA5B9B4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60B94-8EB5-E94D-9E47-2BCA1A72D89B}" type="datetime1">
              <a:rPr lang="en-US" smtClean="0"/>
              <a:t>10/27/24</a:t>
            </a:fld>
            <a:endParaRPr lang="en-B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03CC2E-E52C-1068-87AC-31147A3D1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5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733451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8A233-21AB-4D36-A21B-8F29B0289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BD" dirty="0"/>
              <a:t>Flowchart for </a:t>
            </a:r>
            <a:r>
              <a:rPr lang="en-GB" dirty="0"/>
              <a:t>sum of the digits of an integer</a:t>
            </a:r>
            <a:br>
              <a:rPr lang="en-GB" dirty="0"/>
            </a:br>
            <a:endParaRPr lang="en-BD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C0C4D7B-5A70-BF90-C535-F4C731F04E9D}"/>
              </a:ext>
            </a:extLst>
          </p:cNvPr>
          <p:cNvSpPr/>
          <p:nvPr/>
        </p:nvSpPr>
        <p:spPr>
          <a:xfrm>
            <a:off x="4901938" y="1828799"/>
            <a:ext cx="1055802" cy="4807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Start</a:t>
            </a:r>
          </a:p>
        </p:txBody>
      </p:sp>
      <p:sp>
        <p:nvSpPr>
          <p:cNvPr id="5" name="Data 4">
            <a:extLst>
              <a:ext uri="{FF2B5EF4-FFF2-40B4-BE49-F238E27FC236}">
                <a16:creationId xmlns:a16="http://schemas.microsoft.com/office/drawing/2014/main" id="{367E70CB-683D-AB4A-133D-278E0DCF994B}"/>
              </a:ext>
            </a:extLst>
          </p:cNvPr>
          <p:cNvSpPr/>
          <p:nvPr/>
        </p:nvSpPr>
        <p:spPr>
          <a:xfrm>
            <a:off x="4039385" y="2481429"/>
            <a:ext cx="2780907" cy="486904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Input num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1EA9E2-C282-023E-47B6-8ED5CBDA209B}"/>
              </a:ext>
            </a:extLst>
          </p:cNvPr>
          <p:cNvSpPr/>
          <p:nvPr/>
        </p:nvSpPr>
        <p:spPr>
          <a:xfrm>
            <a:off x="4666266" y="3174084"/>
            <a:ext cx="1527143" cy="4869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s</a:t>
            </a:r>
            <a:r>
              <a:rPr lang="en-BD" dirty="0"/>
              <a:t>um = 0, temp = num 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53210F6D-CB7D-FD4F-D508-333C684AC68A}"/>
              </a:ext>
            </a:extLst>
          </p:cNvPr>
          <p:cNvSpPr/>
          <p:nvPr/>
        </p:nvSpPr>
        <p:spPr>
          <a:xfrm>
            <a:off x="4232633" y="3849524"/>
            <a:ext cx="2394408" cy="641023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temp != 0</a:t>
            </a:r>
            <a:endParaRPr lang="en-B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DA7F4A-19FE-FA41-BA36-08F3E10BCF35}"/>
              </a:ext>
            </a:extLst>
          </p:cNvPr>
          <p:cNvSpPr/>
          <p:nvPr/>
        </p:nvSpPr>
        <p:spPr>
          <a:xfrm>
            <a:off x="4397602" y="4730715"/>
            <a:ext cx="2064470" cy="7918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rem = temp%10</a:t>
            </a:r>
          </a:p>
          <a:p>
            <a:pPr algn="ctr"/>
            <a:r>
              <a:rPr lang="en-GB" dirty="0"/>
              <a:t>sum = sum + rem</a:t>
            </a:r>
          </a:p>
          <a:p>
            <a:pPr algn="ctr"/>
            <a:r>
              <a:rPr lang="en-GB" dirty="0"/>
              <a:t>temp = temp/10</a:t>
            </a:r>
            <a:endParaRPr lang="en-BD" dirty="0"/>
          </a:p>
        </p:txBody>
      </p:sp>
      <p:sp>
        <p:nvSpPr>
          <p:cNvPr id="9" name="Data 8">
            <a:extLst>
              <a:ext uri="{FF2B5EF4-FFF2-40B4-BE49-F238E27FC236}">
                <a16:creationId xmlns:a16="http://schemas.microsoft.com/office/drawing/2014/main" id="{0861334B-9C2D-2D63-4C39-1C04AD3CA352}"/>
              </a:ext>
            </a:extLst>
          </p:cNvPr>
          <p:cNvSpPr/>
          <p:nvPr/>
        </p:nvSpPr>
        <p:spPr>
          <a:xfrm>
            <a:off x="7178510" y="3926583"/>
            <a:ext cx="2780907" cy="486904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</a:t>
            </a:r>
            <a:r>
              <a:rPr lang="en-BD" dirty="0"/>
              <a:t>rint sum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00FAE85-B611-CA6A-F191-1C0B0178AB8D}"/>
              </a:ext>
            </a:extLst>
          </p:cNvPr>
          <p:cNvSpPr/>
          <p:nvPr/>
        </p:nvSpPr>
        <p:spPr>
          <a:xfrm>
            <a:off x="8041062" y="4645874"/>
            <a:ext cx="1055802" cy="4807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E</a:t>
            </a:r>
            <a:r>
              <a:rPr lang="en-BD" dirty="0"/>
              <a:t>nd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07EB96E-2513-B498-5F8A-C1BEDD7596D6}"/>
              </a:ext>
            </a:extLst>
          </p:cNvPr>
          <p:cNvCxnSpPr>
            <a:stCxn id="4" idx="4"/>
            <a:endCxn id="5" idx="1"/>
          </p:cNvCxnSpPr>
          <p:nvPr/>
        </p:nvCxnSpPr>
        <p:spPr>
          <a:xfrm>
            <a:off x="5429839" y="2309566"/>
            <a:ext cx="0" cy="1718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9120394-9736-C136-2974-28E748418A2F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5429838" y="2968333"/>
            <a:ext cx="1" cy="205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9365D23-18E5-138B-0B8C-555D4279179E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429837" y="3660988"/>
            <a:ext cx="1" cy="1885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612F602-F4D1-6358-C261-3B066F9B2FF9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5429837" y="4490547"/>
            <a:ext cx="0" cy="2401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946C5173-B242-7A66-70F9-921F630F9F7D}"/>
              </a:ext>
            </a:extLst>
          </p:cNvPr>
          <p:cNvCxnSpPr>
            <a:cxnSpLocks/>
            <a:stCxn id="8" idx="1"/>
            <a:endCxn id="7" idx="1"/>
          </p:cNvCxnSpPr>
          <p:nvPr/>
        </p:nvCxnSpPr>
        <p:spPr>
          <a:xfrm rot="10800000">
            <a:off x="4232634" y="4170037"/>
            <a:ext cx="164969" cy="956605"/>
          </a:xfrm>
          <a:prstGeom prst="bentConnector3">
            <a:avLst>
              <a:gd name="adj1" fmla="val 23857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15CDA13-4F00-E393-E955-1000D937DA26}"/>
              </a:ext>
            </a:extLst>
          </p:cNvPr>
          <p:cNvCxnSpPr>
            <a:stCxn id="7" idx="3"/>
            <a:endCxn id="9" idx="2"/>
          </p:cNvCxnSpPr>
          <p:nvPr/>
        </p:nvCxnSpPr>
        <p:spPr>
          <a:xfrm flipV="1">
            <a:off x="6627041" y="4170035"/>
            <a:ext cx="82956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63EFB16-82FC-3802-40EE-9DA13E913194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8568963" y="4413487"/>
            <a:ext cx="1" cy="232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E1743F4-30BA-F6E6-D91C-7E3381F2C39C}"/>
              </a:ext>
            </a:extLst>
          </p:cNvPr>
          <p:cNvSpPr txBox="1"/>
          <p:nvPr/>
        </p:nvSpPr>
        <p:spPr>
          <a:xfrm>
            <a:off x="5623470" y="4378696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Yes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0D4676C-B8F5-0665-A90E-7C87E133594C}"/>
              </a:ext>
            </a:extLst>
          </p:cNvPr>
          <p:cNvSpPr txBox="1"/>
          <p:nvPr/>
        </p:nvSpPr>
        <p:spPr>
          <a:xfrm>
            <a:off x="6740165" y="3789575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No</a:t>
            </a:r>
          </a:p>
        </p:txBody>
      </p:sp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CB6822A1-EC19-D813-7B42-D7CF5E5C6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714A5-3DBE-174D-B634-ACEABFB52999}" type="datetime1">
              <a:rPr lang="en-US" smtClean="0"/>
              <a:t>10/27/24</a:t>
            </a:fld>
            <a:endParaRPr lang="en-BD"/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6DA6EB6B-B427-90E7-7090-CCFD5EDB8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6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757909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BE62B-DD58-8373-A97E-92AA81AAC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Algorithm for </a:t>
            </a:r>
            <a:r>
              <a:rPr lang="en-GB" dirty="0"/>
              <a:t>sum of the digits of an integer</a:t>
            </a:r>
            <a:br>
              <a:rPr lang="en-GB" dirty="0"/>
            </a:b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A3001-58D8-4DD9-8A35-655E47EB8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BD" dirty="0"/>
              <a:t>Start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Input a number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</a:t>
            </a:r>
            <a:r>
              <a:rPr lang="en-BD" dirty="0"/>
              <a:t>emp = num, sum=0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</a:t>
            </a:r>
            <a:r>
              <a:rPr lang="en-BD" dirty="0"/>
              <a:t>hile (temp!=0):</a:t>
            </a:r>
          </a:p>
          <a:p>
            <a:pPr lvl="1"/>
            <a:r>
              <a:rPr lang="en-GB" dirty="0"/>
              <a:t>rem = temp%10</a:t>
            </a:r>
          </a:p>
          <a:p>
            <a:pPr lvl="1"/>
            <a:r>
              <a:rPr lang="en-GB" dirty="0"/>
              <a:t>sum = sum + rem</a:t>
            </a:r>
          </a:p>
          <a:p>
            <a:pPr lvl="1"/>
            <a:r>
              <a:rPr lang="en-GB" dirty="0"/>
              <a:t>temp = temp/10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Print sum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end</a:t>
            </a:r>
            <a:endParaRPr lang="en-BD" dirty="0"/>
          </a:p>
          <a:p>
            <a:endParaRPr lang="en-BD" dirty="0"/>
          </a:p>
          <a:p>
            <a:pPr lvl="1"/>
            <a:endParaRPr lang="en-B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39249-50F2-8B03-9DE4-81B76F1A9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ED35-894C-6C4E-BE4B-429078C7C620}" type="datetime1">
              <a:rPr lang="en-US" smtClean="0"/>
              <a:t>10/27/24</a:t>
            </a:fld>
            <a:endParaRPr lang="e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E290EC-89B3-354A-6B69-C7255A23F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7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209804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21154-C1EB-E5AD-4D3D-5F0F6CD1A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BD" dirty="0"/>
              <a:t>C program for </a:t>
            </a:r>
            <a:r>
              <a:rPr lang="en-GB" dirty="0"/>
              <a:t>sum of the digits of an integer</a:t>
            </a:r>
            <a:br>
              <a:rPr lang="en-GB" dirty="0"/>
            </a:br>
            <a:endParaRPr lang="en-BD" dirty="0"/>
          </a:p>
        </p:txBody>
      </p:sp>
      <p:pic>
        <p:nvPicPr>
          <p:cNvPr id="5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CBE27000-1C2F-8821-D2B5-E89840AAF9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6903" y="1561257"/>
            <a:ext cx="6718300" cy="4931617"/>
          </a:xfrm>
        </p:spPr>
      </p:pic>
      <p:pic>
        <p:nvPicPr>
          <p:cNvPr id="7" name="Picture 6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D001F9C0-521A-E8F0-54D2-67B65ED52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563265"/>
            <a:ext cx="4495800" cy="246380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286D40B-9BB1-623E-2534-D33A4E56C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0BCD9-98A2-0442-9C83-FAE9202ACEE7}" type="datetime1">
              <a:rPr lang="en-US" smtClean="0"/>
              <a:t>10/27/24</a:t>
            </a:fld>
            <a:endParaRPr lang="en-B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2B47A2-57A1-A8F5-C526-B0D90B25F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8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641735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C1CA3-9A3A-A9A7-AAB6-39170809C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315" y="114635"/>
            <a:ext cx="10515600" cy="1325563"/>
          </a:xfrm>
        </p:spPr>
        <p:txBody>
          <a:bodyPr/>
          <a:lstStyle/>
          <a:p>
            <a:r>
              <a:rPr lang="en-BD" dirty="0"/>
              <a:t>Flowchart to reverse an integer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7A5F7BC-76D8-2A88-699F-3AEF82F9CA4D}"/>
              </a:ext>
            </a:extLst>
          </p:cNvPr>
          <p:cNvSpPr/>
          <p:nvPr/>
        </p:nvSpPr>
        <p:spPr>
          <a:xfrm>
            <a:off x="4901938" y="1828799"/>
            <a:ext cx="1055802" cy="4807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Start</a:t>
            </a:r>
          </a:p>
        </p:txBody>
      </p:sp>
      <p:sp>
        <p:nvSpPr>
          <p:cNvPr id="5" name="Data 4">
            <a:extLst>
              <a:ext uri="{FF2B5EF4-FFF2-40B4-BE49-F238E27FC236}">
                <a16:creationId xmlns:a16="http://schemas.microsoft.com/office/drawing/2014/main" id="{54A4E48D-3E8D-A721-EB04-D08CB670CECD}"/>
              </a:ext>
            </a:extLst>
          </p:cNvPr>
          <p:cNvSpPr/>
          <p:nvPr/>
        </p:nvSpPr>
        <p:spPr>
          <a:xfrm>
            <a:off x="4039385" y="2481429"/>
            <a:ext cx="2780907" cy="486904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Input num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673792-ED53-F64E-DAE7-0CFD723A845B}"/>
              </a:ext>
            </a:extLst>
          </p:cNvPr>
          <p:cNvSpPr/>
          <p:nvPr/>
        </p:nvSpPr>
        <p:spPr>
          <a:xfrm>
            <a:off x="4666266" y="3174084"/>
            <a:ext cx="1527143" cy="4869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s</a:t>
            </a:r>
            <a:r>
              <a:rPr lang="en-BD" dirty="0"/>
              <a:t>um = 0, temp = num 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1D479E80-3E8E-75A7-F63B-6B7E64CD1E08}"/>
              </a:ext>
            </a:extLst>
          </p:cNvPr>
          <p:cNvSpPr/>
          <p:nvPr/>
        </p:nvSpPr>
        <p:spPr>
          <a:xfrm>
            <a:off x="4232633" y="3849524"/>
            <a:ext cx="2394408" cy="641023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temp != 0</a:t>
            </a:r>
            <a:endParaRPr lang="en-B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CE3B88-9C16-AA20-E20C-95CDB7507145}"/>
              </a:ext>
            </a:extLst>
          </p:cNvPr>
          <p:cNvSpPr/>
          <p:nvPr/>
        </p:nvSpPr>
        <p:spPr>
          <a:xfrm>
            <a:off x="4039385" y="4730715"/>
            <a:ext cx="2780907" cy="7918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rem = temp%10</a:t>
            </a:r>
          </a:p>
          <a:p>
            <a:pPr algn="ctr"/>
            <a:r>
              <a:rPr lang="en-GB" dirty="0"/>
              <a:t>sum = sum*10 + rem</a:t>
            </a:r>
          </a:p>
          <a:p>
            <a:pPr algn="ctr"/>
            <a:r>
              <a:rPr lang="en-GB" dirty="0"/>
              <a:t>temp = temp/10</a:t>
            </a:r>
            <a:endParaRPr lang="en-BD" dirty="0"/>
          </a:p>
        </p:txBody>
      </p:sp>
      <p:sp>
        <p:nvSpPr>
          <p:cNvPr id="9" name="Data 8">
            <a:extLst>
              <a:ext uri="{FF2B5EF4-FFF2-40B4-BE49-F238E27FC236}">
                <a16:creationId xmlns:a16="http://schemas.microsoft.com/office/drawing/2014/main" id="{E8BAFD89-F9AE-76ED-75F7-1BAF02EC51AA}"/>
              </a:ext>
            </a:extLst>
          </p:cNvPr>
          <p:cNvSpPr/>
          <p:nvPr/>
        </p:nvSpPr>
        <p:spPr>
          <a:xfrm>
            <a:off x="7178510" y="3926583"/>
            <a:ext cx="2780907" cy="486904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</a:t>
            </a:r>
            <a:r>
              <a:rPr lang="en-BD" dirty="0"/>
              <a:t>rint sum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2D28508-0111-5C04-2B4C-4E75B65B6880}"/>
              </a:ext>
            </a:extLst>
          </p:cNvPr>
          <p:cNvSpPr/>
          <p:nvPr/>
        </p:nvSpPr>
        <p:spPr>
          <a:xfrm>
            <a:off x="8041062" y="4645874"/>
            <a:ext cx="1055802" cy="4807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E</a:t>
            </a:r>
            <a:r>
              <a:rPr lang="en-BD" dirty="0"/>
              <a:t>nd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3303B7-00B8-A2A2-C898-6D37E7693D7F}"/>
              </a:ext>
            </a:extLst>
          </p:cNvPr>
          <p:cNvCxnSpPr>
            <a:stCxn id="4" idx="4"/>
            <a:endCxn id="5" idx="1"/>
          </p:cNvCxnSpPr>
          <p:nvPr/>
        </p:nvCxnSpPr>
        <p:spPr>
          <a:xfrm>
            <a:off x="5429839" y="2309566"/>
            <a:ext cx="0" cy="1718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C17BFAD-6CF6-3A0F-7AFF-BC010054BE5B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5429838" y="2968333"/>
            <a:ext cx="1" cy="205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96DEE5C-4529-186C-A337-90B473CF61F2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429837" y="3660988"/>
            <a:ext cx="1" cy="1885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060F4EB-4A47-58EE-FF3B-B38E039DD4A3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5429837" y="4490547"/>
            <a:ext cx="2" cy="2401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8F4DE54C-B8FB-414D-59D6-C5FB71754E30}"/>
              </a:ext>
            </a:extLst>
          </p:cNvPr>
          <p:cNvCxnSpPr>
            <a:cxnSpLocks/>
            <a:stCxn id="8" idx="1"/>
            <a:endCxn id="7" idx="1"/>
          </p:cNvCxnSpPr>
          <p:nvPr/>
        </p:nvCxnSpPr>
        <p:spPr>
          <a:xfrm rot="10800000" flipH="1">
            <a:off x="4039385" y="4170037"/>
            <a:ext cx="193248" cy="956605"/>
          </a:xfrm>
          <a:prstGeom prst="bentConnector3">
            <a:avLst>
              <a:gd name="adj1" fmla="val -11829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F1147AD-09C6-B338-C2A2-D0998CD9BBFC}"/>
              </a:ext>
            </a:extLst>
          </p:cNvPr>
          <p:cNvCxnSpPr>
            <a:stCxn id="7" idx="3"/>
            <a:endCxn id="9" idx="2"/>
          </p:cNvCxnSpPr>
          <p:nvPr/>
        </p:nvCxnSpPr>
        <p:spPr>
          <a:xfrm flipV="1">
            <a:off x="6627041" y="4170035"/>
            <a:ext cx="82956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4DB9386-CF01-5AA0-8CA4-B170E12A3DB8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8568963" y="4413487"/>
            <a:ext cx="1" cy="232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75A0632-72BA-E1F0-1159-84CDFDE84B9E}"/>
              </a:ext>
            </a:extLst>
          </p:cNvPr>
          <p:cNvSpPr txBox="1"/>
          <p:nvPr/>
        </p:nvSpPr>
        <p:spPr>
          <a:xfrm>
            <a:off x="5623470" y="4378696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Yes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7B8769-3018-5753-34A1-889EB744CFFF}"/>
              </a:ext>
            </a:extLst>
          </p:cNvPr>
          <p:cNvSpPr txBox="1"/>
          <p:nvPr/>
        </p:nvSpPr>
        <p:spPr>
          <a:xfrm>
            <a:off x="6740165" y="3789575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No</a:t>
            </a:r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87DF0875-3DCB-EEB9-20E1-75DD650DF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FBE58-B7D3-8749-8C96-C767CEEDE4F9}" type="datetime1">
              <a:rPr lang="en-US" smtClean="0"/>
              <a:t>10/27/24</a:t>
            </a:fld>
            <a:endParaRPr lang="en-BD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F8757825-D91E-1512-3AF0-3C751F5E5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9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055914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7C0D-BF55-58C1-2711-055A0563F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406" y="86451"/>
            <a:ext cx="10515600" cy="1325563"/>
          </a:xfrm>
        </p:spPr>
        <p:txBody>
          <a:bodyPr/>
          <a:lstStyle/>
          <a:p>
            <a:r>
              <a:rPr lang="en-BD" dirty="0"/>
              <a:t>Alogrithm to reverse an integer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7B4F5-6218-BAF7-7748-B7E14CCAC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BD" dirty="0"/>
              <a:t>Start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Input a number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</a:t>
            </a:r>
            <a:r>
              <a:rPr lang="en-BD" dirty="0"/>
              <a:t>emp = num, sum=0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</a:t>
            </a:r>
            <a:r>
              <a:rPr lang="en-BD" dirty="0"/>
              <a:t>hile (temp!=0):</a:t>
            </a:r>
          </a:p>
          <a:p>
            <a:pPr lvl="1"/>
            <a:r>
              <a:rPr lang="en-GB" dirty="0"/>
              <a:t>rem = temp%10</a:t>
            </a:r>
          </a:p>
          <a:p>
            <a:pPr lvl="1"/>
            <a:r>
              <a:rPr lang="en-GB" dirty="0"/>
              <a:t>sum = sum*10 + rem</a:t>
            </a:r>
          </a:p>
          <a:p>
            <a:pPr lvl="1"/>
            <a:r>
              <a:rPr lang="en-GB" dirty="0"/>
              <a:t>temp = temp/10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Print sum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end</a:t>
            </a:r>
            <a:endParaRPr lang="en-BD" dirty="0"/>
          </a:p>
          <a:p>
            <a:endParaRPr lang="en-B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A177B-1372-296A-2212-0D46E7E59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4610E-0A94-5E48-AAED-030F37390307}" type="datetime1">
              <a:rPr lang="en-US" smtClean="0"/>
              <a:t>10/27/24</a:t>
            </a:fld>
            <a:endParaRPr lang="e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08FEDC-37D9-A1A5-19E0-DE0607190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10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30139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530F4-833A-D9DD-995F-0DF67C8E0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9934"/>
            <a:ext cx="10515600" cy="1325563"/>
          </a:xfrm>
        </p:spPr>
        <p:txBody>
          <a:bodyPr/>
          <a:lstStyle/>
          <a:p>
            <a:r>
              <a:rPr lang="en-BD" dirty="0"/>
              <a:t>C program to reverse an integer</a:t>
            </a:r>
          </a:p>
        </p:txBody>
      </p:sp>
      <p:pic>
        <p:nvPicPr>
          <p:cNvPr id="5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8E19AC34-69B4-055B-6891-0D0006B071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3593" y="1690688"/>
            <a:ext cx="6672533" cy="4634698"/>
          </a:xfr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89661F9A-9F74-1370-C220-B61F5D2D4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6126" y="1690688"/>
            <a:ext cx="3707674" cy="243840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DB2E9B4-FEAC-C784-68F7-60FC1DBDB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1C178-0DA9-1247-999F-8DC53DA11F7C}" type="datetime1">
              <a:rPr lang="en-US" smtClean="0"/>
              <a:t>10/27/24</a:t>
            </a:fld>
            <a:endParaRPr lang="en-B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833591-227A-974C-2FD6-9262C024F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11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9340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82225-6F9B-C29E-4396-E2772501F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Palindrome number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7ABC1-DE65-95FC-AE59-6A3EFF9C9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palindrome number is a number that remains the same when its digits are reversed. </a:t>
            </a:r>
          </a:p>
          <a:p>
            <a:r>
              <a:rPr lang="en-GB" dirty="0"/>
              <a:t>For example: 525, 12321</a:t>
            </a:r>
          </a:p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endParaRPr lang="en-B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147BA-01C8-0549-5BE7-5695BF71F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CC332-BE1D-F849-BC15-413B9DAA954E}" type="datetime1">
              <a:rPr lang="en-US" smtClean="0"/>
              <a:t>10/27/24</a:t>
            </a:fld>
            <a:endParaRPr lang="e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649573-CB6F-7E59-368B-7524D70ED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12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938224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6FC57-0102-DC03-C742-D94E2801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Flowchart to check if a number is </a:t>
            </a:r>
            <a:r>
              <a:rPr lang="en-GB" dirty="0"/>
              <a:t>palindrome or not</a:t>
            </a:r>
            <a:endParaRPr lang="en-BD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21483D8-6874-3992-7AB7-BFAD67A3F6B7}"/>
              </a:ext>
            </a:extLst>
          </p:cNvPr>
          <p:cNvSpPr/>
          <p:nvPr/>
        </p:nvSpPr>
        <p:spPr>
          <a:xfrm>
            <a:off x="2678281" y="1755091"/>
            <a:ext cx="1055802" cy="4807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Start</a:t>
            </a:r>
          </a:p>
        </p:txBody>
      </p:sp>
      <p:sp>
        <p:nvSpPr>
          <p:cNvPr id="7" name="Data 6">
            <a:extLst>
              <a:ext uri="{FF2B5EF4-FFF2-40B4-BE49-F238E27FC236}">
                <a16:creationId xmlns:a16="http://schemas.microsoft.com/office/drawing/2014/main" id="{AE804225-6334-097B-2837-62F0E24C9B0B}"/>
              </a:ext>
            </a:extLst>
          </p:cNvPr>
          <p:cNvSpPr/>
          <p:nvPr/>
        </p:nvSpPr>
        <p:spPr>
          <a:xfrm>
            <a:off x="1815730" y="2447677"/>
            <a:ext cx="2780907" cy="486904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Input num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9F6FA1-CC60-BFE1-9357-B76265DDE265}"/>
              </a:ext>
            </a:extLst>
          </p:cNvPr>
          <p:cNvSpPr/>
          <p:nvPr/>
        </p:nvSpPr>
        <p:spPr>
          <a:xfrm>
            <a:off x="2442611" y="3140332"/>
            <a:ext cx="1527143" cy="4869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s</a:t>
            </a:r>
            <a:r>
              <a:rPr lang="en-BD" dirty="0"/>
              <a:t>um = 0, temp = num 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F66DF990-1C13-BD6B-501D-B4A5BEAD0E29}"/>
              </a:ext>
            </a:extLst>
          </p:cNvPr>
          <p:cNvSpPr/>
          <p:nvPr/>
        </p:nvSpPr>
        <p:spPr>
          <a:xfrm>
            <a:off x="2008978" y="3815772"/>
            <a:ext cx="2394408" cy="641023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temp != 0</a:t>
            </a:r>
            <a:endParaRPr lang="en-BD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07EFC1-8A6D-F9E5-75DC-E30D61CD5BB7}"/>
              </a:ext>
            </a:extLst>
          </p:cNvPr>
          <p:cNvSpPr/>
          <p:nvPr/>
        </p:nvSpPr>
        <p:spPr>
          <a:xfrm>
            <a:off x="1835009" y="4946397"/>
            <a:ext cx="2780907" cy="7918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rem = temp%10</a:t>
            </a:r>
          </a:p>
          <a:p>
            <a:pPr algn="ctr"/>
            <a:r>
              <a:rPr lang="en-GB" dirty="0"/>
              <a:t>sum = sum*10 + rem</a:t>
            </a:r>
          </a:p>
          <a:p>
            <a:pPr algn="ctr"/>
            <a:r>
              <a:rPr lang="en-GB" dirty="0"/>
              <a:t>temp = temp/10</a:t>
            </a:r>
            <a:endParaRPr lang="en-BD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8B5DF79-5895-3EFF-20B5-CE88C7BE7E66}"/>
              </a:ext>
            </a:extLst>
          </p:cNvPr>
          <p:cNvSpPr/>
          <p:nvPr/>
        </p:nvSpPr>
        <p:spPr>
          <a:xfrm>
            <a:off x="7545819" y="6086460"/>
            <a:ext cx="1055802" cy="4807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E</a:t>
            </a:r>
            <a:r>
              <a:rPr lang="en-BD" dirty="0"/>
              <a:t>nd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62FB20F-00D9-9187-C953-E1ABC361FDC0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206184" y="2275814"/>
            <a:ext cx="0" cy="1718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F899C43-98DE-FA28-5C90-2DA8176EED64}"/>
              </a:ext>
            </a:extLst>
          </p:cNvPr>
          <p:cNvCxnSpPr>
            <a:stCxn id="7" idx="4"/>
            <a:endCxn id="8" idx="0"/>
          </p:cNvCxnSpPr>
          <p:nvPr/>
        </p:nvCxnSpPr>
        <p:spPr>
          <a:xfrm flipH="1">
            <a:off x="3206183" y="2934581"/>
            <a:ext cx="1" cy="205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FDCDCB9-D776-3595-1B16-02A8C3133AD4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3206182" y="3627236"/>
            <a:ext cx="1" cy="1885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5DBFFF4-B125-597B-6039-0E690B9DE517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3206182" y="4456795"/>
            <a:ext cx="19281" cy="4896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399CBD09-3CC4-4243-20D1-D60C2254E033}"/>
              </a:ext>
            </a:extLst>
          </p:cNvPr>
          <p:cNvCxnSpPr>
            <a:cxnSpLocks/>
            <a:stCxn id="10" idx="1"/>
            <a:endCxn id="9" idx="1"/>
          </p:cNvCxnSpPr>
          <p:nvPr/>
        </p:nvCxnSpPr>
        <p:spPr>
          <a:xfrm rot="10800000" flipH="1">
            <a:off x="1835008" y="4136285"/>
            <a:ext cx="173969" cy="1206039"/>
          </a:xfrm>
          <a:prstGeom prst="bentConnector3">
            <a:avLst>
              <a:gd name="adj1" fmla="val -13140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0560CC7-EB5B-7860-C819-78FFE8A5E85B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403386" y="4136283"/>
            <a:ext cx="82956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77F07D6-0551-B310-DC1A-E81552E5E649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8073720" y="5854073"/>
            <a:ext cx="1" cy="232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03C7662-AADD-369E-6EA8-6C9CD76B91CC}"/>
              </a:ext>
            </a:extLst>
          </p:cNvPr>
          <p:cNvSpPr txBox="1"/>
          <p:nvPr/>
        </p:nvSpPr>
        <p:spPr>
          <a:xfrm>
            <a:off x="3280614" y="4508427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Yes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D5861A-F0FD-2012-15C0-2963BF2AEEEF}"/>
              </a:ext>
            </a:extLst>
          </p:cNvPr>
          <p:cNvSpPr txBox="1"/>
          <p:nvPr/>
        </p:nvSpPr>
        <p:spPr>
          <a:xfrm>
            <a:off x="4516510" y="3755823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No</a:t>
            </a:r>
          </a:p>
        </p:txBody>
      </p:sp>
      <p:sp>
        <p:nvSpPr>
          <p:cNvPr id="22" name="Diamond 21">
            <a:extLst>
              <a:ext uri="{FF2B5EF4-FFF2-40B4-BE49-F238E27FC236}">
                <a16:creationId xmlns:a16="http://schemas.microsoft.com/office/drawing/2014/main" id="{B9ED5C90-D706-695F-568B-6CC761B4F425}"/>
              </a:ext>
            </a:extLst>
          </p:cNvPr>
          <p:cNvSpPr/>
          <p:nvPr/>
        </p:nvSpPr>
        <p:spPr>
          <a:xfrm>
            <a:off x="5232945" y="3804643"/>
            <a:ext cx="2840775" cy="641023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sum == </a:t>
            </a:r>
            <a:r>
              <a:rPr lang="en-GB" dirty="0" err="1"/>
              <a:t>num</a:t>
            </a:r>
            <a:endParaRPr lang="en-BD" dirty="0"/>
          </a:p>
        </p:txBody>
      </p:sp>
      <p:sp>
        <p:nvSpPr>
          <p:cNvPr id="23" name="Data 22">
            <a:extLst>
              <a:ext uri="{FF2B5EF4-FFF2-40B4-BE49-F238E27FC236}">
                <a16:creationId xmlns:a16="http://schemas.microsoft.com/office/drawing/2014/main" id="{DED97077-F1E6-FECA-7B0D-31616A994B01}"/>
              </a:ext>
            </a:extLst>
          </p:cNvPr>
          <p:cNvSpPr/>
          <p:nvPr/>
        </p:nvSpPr>
        <p:spPr>
          <a:xfrm>
            <a:off x="5181098" y="4768656"/>
            <a:ext cx="2780907" cy="791847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</a:t>
            </a:r>
            <a:r>
              <a:rPr lang="en-BD" dirty="0"/>
              <a:t>rint palindrome number</a:t>
            </a:r>
          </a:p>
        </p:txBody>
      </p:sp>
      <p:sp>
        <p:nvSpPr>
          <p:cNvPr id="24" name="Data 23">
            <a:extLst>
              <a:ext uri="{FF2B5EF4-FFF2-40B4-BE49-F238E27FC236}">
                <a16:creationId xmlns:a16="http://schemas.microsoft.com/office/drawing/2014/main" id="{7F367350-7A9B-86DC-E69A-5772E15BF1A7}"/>
              </a:ext>
            </a:extLst>
          </p:cNvPr>
          <p:cNvSpPr/>
          <p:nvPr/>
        </p:nvSpPr>
        <p:spPr>
          <a:xfrm>
            <a:off x="8601621" y="4570804"/>
            <a:ext cx="2780907" cy="960279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</a:t>
            </a:r>
            <a:r>
              <a:rPr lang="en-BD" dirty="0"/>
              <a:t>rint not palindrome number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0BCAACE-C860-34D1-BCAB-88E0E434B402}"/>
              </a:ext>
            </a:extLst>
          </p:cNvPr>
          <p:cNvCxnSpPr>
            <a:stCxn id="22" idx="2"/>
          </p:cNvCxnSpPr>
          <p:nvPr/>
        </p:nvCxnSpPr>
        <p:spPr>
          <a:xfrm>
            <a:off x="6653333" y="4445666"/>
            <a:ext cx="7240" cy="3229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58565C27-1CF6-D0A3-6D03-C2715D70FA9A}"/>
              </a:ext>
            </a:extLst>
          </p:cNvPr>
          <p:cNvCxnSpPr>
            <a:stCxn id="22" idx="3"/>
            <a:endCxn id="24" idx="0"/>
          </p:cNvCxnSpPr>
          <p:nvPr/>
        </p:nvCxnSpPr>
        <p:spPr>
          <a:xfrm>
            <a:off x="8073720" y="4125155"/>
            <a:ext cx="2196445" cy="44564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D8E52FCF-2345-342D-02E8-4F3AE0768287}"/>
              </a:ext>
            </a:extLst>
          </p:cNvPr>
          <p:cNvSpPr/>
          <p:nvPr/>
        </p:nvSpPr>
        <p:spPr>
          <a:xfrm>
            <a:off x="7785343" y="5383734"/>
            <a:ext cx="576754" cy="57675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707A8995-4B52-DC10-94E4-ACBB1C50D2CB}"/>
              </a:ext>
            </a:extLst>
          </p:cNvPr>
          <p:cNvCxnSpPr>
            <a:stCxn id="23" idx="3"/>
            <a:endCxn id="29" idx="2"/>
          </p:cNvCxnSpPr>
          <p:nvPr/>
        </p:nvCxnSpPr>
        <p:spPr>
          <a:xfrm rot="16200000" flipH="1">
            <a:off x="6983598" y="4870366"/>
            <a:ext cx="111608" cy="149188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C2CD4F0C-B057-1A2B-8E3C-FC7722F9A59B}"/>
              </a:ext>
            </a:extLst>
          </p:cNvPr>
          <p:cNvCxnSpPr>
            <a:stCxn id="24" idx="4"/>
            <a:endCxn id="29" idx="6"/>
          </p:cNvCxnSpPr>
          <p:nvPr/>
        </p:nvCxnSpPr>
        <p:spPr>
          <a:xfrm rot="5400000">
            <a:off x="9106572" y="4786608"/>
            <a:ext cx="141028" cy="162997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308A332-D364-1CB9-EDB5-BC4766EDA201}"/>
              </a:ext>
            </a:extLst>
          </p:cNvPr>
          <p:cNvSpPr txBox="1"/>
          <p:nvPr/>
        </p:nvSpPr>
        <p:spPr>
          <a:xfrm>
            <a:off x="6716558" y="4435805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Yes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87D9FB-17C0-471F-4E83-07E174C8E033}"/>
              </a:ext>
            </a:extLst>
          </p:cNvPr>
          <p:cNvSpPr txBox="1"/>
          <p:nvPr/>
        </p:nvSpPr>
        <p:spPr>
          <a:xfrm>
            <a:off x="8428469" y="3733315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No</a:t>
            </a:r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063F876B-0D9A-3A30-F367-9A99D6C82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704AC-10D2-7442-BD1E-04C58C6002F2}" type="datetime1">
              <a:rPr lang="en-US" smtClean="0"/>
              <a:t>10/27/24</a:t>
            </a:fld>
            <a:endParaRPr lang="en-BD"/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67102980-9129-FAF1-004C-A4EBE0224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13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714955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B1205-DFB5-E3A0-E4D8-08C804026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Algorithm to check if a number is </a:t>
            </a:r>
            <a:r>
              <a:rPr lang="en-GB" dirty="0"/>
              <a:t>palindrome or not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14D8B-E794-8FD3-93D7-32022F142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51073" cy="517784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BD" dirty="0"/>
              <a:t>Start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Input a number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</a:t>
            </a:r>
            <a:r>
              <a:rPr lang="en-BD" dirty="0"/>
              <a:t>emp = num, sum=0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</a:t>
            </a:r>
            <a:r>
              <a:rPr lang="en-BD" dirty="0"/>
              <a:t>hile (temp!=0):</a:t>
            </a:r>
          </a:p>
          <a:p>
            <a:pPr lvl="1"/>
            <a:r>
              <a:rPr lang="en-GB" dirty="0"/>
              <a:t>rem = temp%10</a:t>
            </a:r>
          </a:p>
          <a:p>
            <a:pPr lvl="1"/>
            <a:r>
              <a:rPr lang="en-GB" dirty="0"/>
              <a:t>sum = sum*10 + rem</a:t>
            </a:r>
          </a:p>
          <a:p>
            <a:pPr lvl="1"/>
            <a:r>
              <a:rPr lang="en-GB" dirty="0"/>
              <a:t>temp = temp/10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Is (</a:t>
            </a:r>
            <a:r>
              <a:rPr lang="en-GB" dirty="0" err="1"/>
              <a:t>num</a:t>
            </a:r>
            <a:r>
              <a:rPr lang="en-GB" dirty="0"/>
              <a:t>==sum):</a:t>
            </a:r>
          </a:p>
          <a:p>
            <a:pPr lvl="1"/>
            <a:r>
              <a:rPr lang="en-GB" dirty="0"/>
              <a:t>Yes, print it is a palindrome number</a:t>
            </a:r>
          </a:p>
          <a:p>
            <a:pPr lvl="1"/>
            <a:r>
              <a:rPr lang="en-GB" dirty="0"/>
              <a:t>No,  print it is not a palindrome number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2F56A7-E0B4-2A3D-7D53-E9ECFB093989}"/>
              </a:ext>
            </a:extLst>
          </p:cNvPr>
          <p:cNvSpPr txBox="1"/>
          <p:nvPr/>
        </p:nvSpPr>
        <p:spPr>
          <a:xfrm>
            <a:off x="8021782" y="2057400"/>
            <a:ext cx="130356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en-GB" sz="2800" dirty="0"/>
              <a:t>End</a:t>
            </a:r>
            <a:endParaRPr lang="en-BD" sz="2800" dirty="0"/>
          </a:p>
          <a:p>
            <a:pPr marL="514350" indent="-514350">
              <a:buFont typeface="+mj-lt"/>
              <a:buAutoNum type="arabicPeriod" startAt="6"/>
            </a:pPr>
            <a:endParaRPr lang="en-BD" sz="28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C20431-047D-0A10-976C-BBB15E720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E35D8-3B06-2F46-9FA8-D4C121036DB2}" type="datetime1">
              <a:rPr lang="en-US" smtClean="0"/>
              <a:t>10/27/24</a:t>
            </a:fld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C0577-5BE7-C17D-B047-0D055D3D7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14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9832433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96993-A9CE-8C26-2640-E467E731B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C program to check if a number is </a:t>
            </a:r>
            <a:r>
              <a:rPr lang="en-GB" dirty="0"/>
              <a:t>palindrome or not</a:t>
            </a:r>
            <a:endParaRPr lang="en-BD" dirty="0"/>
          </a:p>
        </p:txBody>
      </p:sp>
      <p:pic>
        <p:nvPicPr>
          <p:cNvPr id="5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85194A3B-8BB0-8533-0A02-DC597C6D6E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1460" y="1690687"/>
            <a:ext cx="6443077" cy="4802187"/>
          </a:xfr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E206658A-66C3-03C8-F2AA-3AD5302C1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5800" y="1690686"/>
            <a:ext cx="4318000" cy="229870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DFA4B96-2599-6B88-0039-EA2D4E944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83981-2A86-AD4B-9686-E8665AED305F}" type="datetime1">
              <a:rPr lang="en-US" smtClean="0"/>
              <a:t>10/27/24</a:t>
            </a:fld>
            <a:endParaRPr lang="en-B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B5C2C9-9684-3FB2-5BE0-7E80D2962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15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022584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3C16A-06C8-52AB-8C00-B4A823F13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Flowchart for counting number of a digit in an integer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07B7E4D-4449-E821-1050-9CD31D289BA5}"/>
              </a:ext>
            </a:extLst>
          </p:cNvPr>
          <p:cNvSpPr/>
          <p:nvPr/>
        </p:nvSpPr>
        <p:spPr>
          <a:xfrm>
            <a:off x="4901938" y="1828799"/>
            <a:ext cx="1055802" cy="4807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Start</a:t>
            </a:r>
          </a:p>
        </p:txBody>
      </p:sp>
      <p:sp>
        <p:nvSpPr>
          <p:cNvPr id="5" name="Data 4">
            <a:extLst>
              <a:ext uri="{FF2B5EF4-FFF2-40B4-BE49-F238E27FC236}">
                <a16:creationId xmlns:a16="http://schemas.microsoft.com/office/drawing/2014/main" id="{E67054B2-2428-5DE4-3153-9BDAC257B6EC}"/>
              </a:ext>
            </a:extLst>
          </p:cNvPr>
          <p:cNvSpPr/>
          <p:nvPr/>
        </p:nvSpPr>
        <p:spPr>
          <a:xfrm>
            <a:off x="4039385" y="2481429"/>
            <a:ext cx="2780907" cy="486904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Input num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9F52EF-0E76-926D-8EB8-69FA1805FDDC}"/>
              </a:ext>
            </a:extLst>
          </p:cNvPr>
          <p:cNvSpPr/>
          <p:nvPr/>
        </p:nvSpPr>
        <p:spPr>
          <a:xfrm>
            <a:off x="4666266" y="3174084"/>
            <a:ext cx="1527143" cy="4869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count</a:t>
            </a:r>
            <a:r>
              <a:rPr lang="en-BD" dirty="0"/>
              <a:t> = 0, temp = num 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0FB679F4-D377-57F8-90ED-005B01E5ACEB}"/>
              </a:ext>
            </a:extLst>
          </p:cNvPr>
          <p:cNvSpPr/>
          <p:nvPr/>
        </p:nvSpPr>
        <p:spPr>
          <a:xfrm>
            <a:off x="4232633" y="3849524"/>
            <a:ext cx="2394408" cy="641023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temp != 0</a:t>
            </a:r>
            <a:endParaRPr lang="en-B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A06610-8AEA-2407-5DFA-D9FC04926082}"/>
              </a:ext>
            </a:extLst>
          </p:cNvPr>
          <p:cNvSpPr/>
          <p:nvPr/>
        </p:nvSpPr>
        <p:spPr>
          <a:xfrm>
            <a:off x="4039385" y="4730715"/>
            <a:ext cx="2780907" cy="7918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Count++,</a:t>
            </a:r>
          </a:p>
          <a:p>
            <a:pPr algn="ctr"/>
            <a:r>
              <a:rPr lang="en-GB" dirty="0"/>
              <a:t>temp = temp/10</a:t>
            </a:r>
            <a:endParaRPr lang="en-BD" dirty="0"/>
          </a:p>
        </p:txBody>
      </p:sp>
      <p:sp>
        <p:nvSpPr>
          <p:cNvPr id="9" name="Data 8">
            <a:extLst>
              <a:ext uri="{FF2B5EF4-FFF2-40B4-BE49-F238E27FC236}">
                <a16:creationId xmlns:a16="http://schemas.microsoft.com/office/drawing/2014/main" id="{2B885CED-47DA-7AA3-A7CB-86EE56353290}"/>
              </a:ext>
            </a:extLst>
          </p:cNvPr>
          <p:cNvSpPr/>
          <p:nvPr/>
        </p:nvSpPr>
        <p:spPr>
          <a:xfrm>
            <a:off x="7178510" y="3926583"/>
            <a:ext cx="2780907" cy="486904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</a:t>
            </a:r>
            <a:r>
              <a:rPr lang="en-BD" dirty="0"/>
              <a:t>rint count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2B0F6EF-3F1F-84EB-92B8-BBA9A4EAB057}"/>
              </a:ext>
            </a:extLst>
          </p:cNvPr>
          <p:cNvSpPr/>
          <p:nvPr/>
        </p:nvSpPr>
        <p:spPr>
          <a:xfrm>
            <a:off x="8041062" y="4645874"/>
            <a:ext cx="1055802" cy="4807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E</a:t>
            </a:r>
            <a:r>
              <a:rPr lang="en-BD" dirty="0"/>
              <a:t>nd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468471A-870A-4117-A5A9-B7E45FA6FB3A}"/>
              </a:ext>
            </a:extLst>
          </p:cNvPr>
          <p:cNvCxnSpPr>
            <a:stCxn id="4" idx="4"/>
            <a:endCxn id="5" idx="1"/>
          </p:cNvCxnSpPr>
          <p:nvPr/>
        </p:nvCxnSpPr>
        <p:spPr>
          <a:xfrm>
            <a:off x="5429839" y="2309566"/>
            <a:ext cx="0" cy="1718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BE5C4B3-FC76-E924-2502-082CB5DB0CB4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5429838" y="2968333"/>
            <a:ext cx="1" cy="205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4BE8E1D-87D8-89A6-BC83-890AEE26DD07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429837" y="3660988"/>
            <a:ext cx="1" cy="1885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429CBA7-3DFA-0B10-B768-EEB96E3713D9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5429837" y="4490547"/>
            <a:ext cx="2" cy="2401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4D0BD216-B08A-D75C-8B2C-FF2C5CFD6530}"/>
              </a:ext>
            </a:extLst>
          </p:cNvPr>
          <p:cNvCxnSpPr>
            <a:cxnSpLocks/>
            <a:stCxn id="8" idx="1"/>
            <a:endCxn id="7" idx="1"/>
          </p:cNvCxnSpPr>
          <p:nvPr/>
        </p:nvCxnSpPr>
        <p:spPr>
          <a:xfrm rot="10800000" flipH="1">
            <a:off x="4039385" y="4170037"/>
            <a:ext cx="193248" cy="956605"/>
          </a:xfrm>
          <a:prstGeom prst="bentConnector3">
            <a:avLst>
              <a:gd name="adj1" fmla="val -11829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402AED9-FBE7-8D66-F832-3991F9390767}"/>
              </a:ext>
            </a:extLst>
          </p:cNvPr>
          <p:cNvCxnSpPr>
            <a:stCxn id="7" idx="3"/>
            <a:endCxn id="9" idx="2"/>
          </p:cNvCxnSpPr>
          <p:nvPr/>
        </p:nvCxnSpPr>
        <p:spPr>
          <a:xfrm flipV="1">
            <a:off x="6627041" y="4170035"/>
            <a:ext cx="82956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01B7BCD-472C-EECD-0FF0-563FD8A58BE6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8568963" y="4413487"/>
            <a:ext cx="1" cy="232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9EF991D-BCDC-B63D-CB02-9571A80E6E7D}"/>
              </a:ext>
            </a:extLst>
          </p:cNvPr>
          <p:cNvSpPr txBox="1"/>
          <p:nvPr/>
        </p:nvSpPr>
        <p:spPr>
          <a:xfrm>
            <a:off x="5623470" y="4378696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Yes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EEAF24-E99B-2876-55E3-B2FC9E6BE487}"/>
              </a:ext>
            </a:extLst>
          </p:cNvPr>
          <p:cNvSpPr txBox="1"/>
          <p:nvPr/>
        </p:nvSpPr>
        <p:spPr>
          <a:xfrm>
            <a:off x="6740165" y="3789575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No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ACA7A713-9B55-CE4A-E0CE-D6B884150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E1657-DE13-DE4E-9A98-875E52767474}" type="datetime1">
              <a:rPr lang="en-US" smtClean="0"/>
              <a:t>10/27/24</a:t>
            </a:fld>
            <a:endParaRPr lang="en-BD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927BA7D2-9605-D5BA-BFEA-140AA83FB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16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4160783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56486-E6F1-2710-53B4-EA01F8B5F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Algorithm for counting number of a digit in an integer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6B268-EEE2-F5E5-182A-280570F83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BD" dirty="0"/>
              <a:t>Start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Input a number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</a:t>
            </a:r>
            <a:r>
              <a:rPr lang="en-BD" dirty="0"/>
              <a:t>emp = num, count=0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</a:t>
            </a:r>
            <a:r>
              <a:rPr lang="en-BD" dirty="0"/>
              <a:t>hile (temp!=0):</a:t>
            </a:r>
          </a:p>
          <a:p>
            <a:pPr lvl="1"/>
            <a:r>
              <a:rPr lang="en-GB" dirty="0"/>
              <a:t>count++</a:t>
            </a:r>
          </a:p>
          <a:p>
            <a:pPr lvl="1"/>
            <a:r>
              <a:rPr lang="en-GB" dirty="0"/>
              <a:t>temp = temp/10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Print count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end</a:t>
            </a:r>
            <a:endParaRPr lang="en-BD" dirty="0"/>
          </a:p>
          <a:p>
            <a:endParaRPr lang="en-B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C4A8A-DBDE-4D0E-1DBC-D1A120751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76743-26E3-D247-99B5-6D6B2A989FBE}" type="datetime1">
              <a:rPr lang="en-US" smtClean="0"/>
              <a:t>10/27/24</a:t>
            </a:fld>
            <a:endParaRPr lang="e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56FCB5-ADC5-9E7C-05F8-6580BB4F1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17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899343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D813A-9DE7-244C-3272-6D9B2F6C2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C program for counting number of a digit in an integer</a:t>
            </a:r>
          </a:p>
        </p:txBody>
      </p:sp>
      <p:pic>
        <p:nvPicPr>
          <p:cNvPr id="9" name="Content Placeholder 8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E0AEEC0E-DC07-D023-5D9B-05B4A48CF1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9711"/>
            <a:ext cx="7199811" cy="4549798"/>
          </a:xfrm>
        </p:spPr>
      </p:pic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AEB6DA01-F8C1-448A-7886-1234D7873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925" y="1926612"/>
            <a:ext cx="4787900" cy="2806700"/>
          </a:xfrm>
          <a:prstGeom prst="rect">
            <a:avLst/>
          </a:prstGeom>
        </p:spPr>
      </p:pic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D54FB3C-9320-76E0-9DA8-DAD49145D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5FF69-E37A-9C4E-8167-884F31C56967}" type="datetime1">
              <a:rPr lang="en-US" smtClean="0"/>
              <a:t>10/27/24</a:t>
            </a:fld>
            <a:endParaRPr lang="en-BD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6B24CA6-FE40-C440-54DA-94CFFFB66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18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4390786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38785-7377-6323-D71D-E0F7DF17A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Armstrong number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F48C8-22B4-24D4-4C8E-2B82F91A7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 </a:t>
            </a:r>
            <a:r>
              <a:rPr lang="en-GB" dirty="0" err="1"/>
              <a:t>armstrong</a:t>
            </a:r>
            <a:r>
              <a:rPr lang="en-GB" dirty="0"/>
              <a:t> number (also known as a Narcissistic number) for a given number of digits is a number that is equal to the sum of its own digits each raised to the power of the number of digits. </a:t>
            </a:r>
          </a:p>
          <a:p>
            <a:pPr algn="l"/>
            <a:r>
              <a:rPr lang="en-GB" b="0" i="0" dirty="0">
                <a:effectLst/>
                <a:highlight>
                  <a:srgbClr val="FFFFFF"/>
                </a:highlight>
                <a:latin typeface="Helvetica" pitchFamily="2" charset="0"/>
              </a:rPr>
              <a:t>For example:</a:t>
            </a:r>
          </a:p>
          <a:p>
            <a:pPr lvl="1"/>
            <a:r>
              <a:rPr lang="en-GB" b="0" i="0" dirty="0">
                <a:effectLst/>
                <a:highlight>
                  <a:srgbClr val="FFFFFF"/>
                </a:highlight>
                <a:latin typeface="Helvetica" pitchFamily="2" charset="0"/>
              </a:rPr>
              <a:t> 153 is an Armstrong number because 153 = 1</a:t>
            </a:r>
            <a:r>
              <a:rPr lang="en-GB" b="0" i="0" baseline="30000" dirty="0">
                <a:effectLst/>
                <a:highlight>
                  <a:srgbClr val="FFFFFF"/>
                </a:highlight>
                <a:latin typeface="Helvetica" pitchFamily="2" charset="0"/>
              </a:rPr>
              <a:t>3</a:t>
            </a:r>
            <a:r>
              <a:rPr lang="en-GB" b="0" i="0" dirty="0">
                <a:effectLst/>
                <a:highlight>
                  <a:srgbClr val="FFFFFF"/>
                </a:highlight>
                <a:latin typeface="Helvetica" pitchFamily="2" charset="0"/>
              </a:rPr>
              <a:t>+5</a:t>
            </a:r>
            <a:r>
              <a:rPr lang="en-GB" b="0" i="0" baseline="30000" dirty="0">
                <a:effectLst/>
                <a:highlight>
                  <a:srgbClr val="FFFFFF"/>
                </a:highlight>
                <a:latin typeface="Helvetica" pitchFamily="2" charset="0"/>
              </a:rPr>
              <a:t>3</a:t>
            </a:r>
            <a:r>
              <a:rPr lang="en-GB" b="0" i="0" dirty="0">
                <a:effectLst/>
                <a:highlight>
                  <a:srgbClr val="FFFFFF"/>
                </a:highlight>
                <a:latin typeface="Helvetica" pitchFamily="2" charset="0"/>
              </a:rPr>
              <a:t>+3</a:t>
            </a:r>
            <a:r>
              <a:rPr lang="en-GB" b="0" i="0" baseline="30000" dirty="0">
                <a:effectLst/>
                <a:highlight>
                  <a:srgbClr val="FFFFFF"/>
                </a:highlight>
                <a:latin typeface="Helvetica" pitchFamily="2" charset="0"/>
              </a:rPr>
              <a:t>3</a:t>
            </a:r>
            <a:r>
              <a:rPr lang="en-GB" b="0" i="0" dirty="0">
                <a:effectLst/>
                <a:highlight>
                  <a:srgbClr val="FFFFFF"/>
                </a:highlight>
                <a:latin typeface="Helvetica" pitchFamily="2" charset="0"/>
              </a:rPr>
              <a:t>. </a:t>
            </a:r>
          </a:p>
          <a:p>
            <a:pPr lvl="1"/>
            <a:r>
              <a:rPr lang="en-GB" b="0" i="0" dirty="0">
                <a:effectLst/>
                <a:highlight>
                  <a:srgbClr val="FFFFFF"/>
                </a:highlight>
                <a:latin typeface="Helvetica" pitchFamily="2" charset="0"/>
              </a:rPr>
              <a:t>1634 is an Armstrong number because 1634 = 1</a:t>
            </a:r>
            <a:r>
              <a:rPr lang="en-GB" b="0" i="0" baseline="30000" dirty="0">
                <a:effectLst/>
                <a:highlight>
                  <a:srgbClr val="FFFFFF"/>
                </a:highlight>
                <a:latin typeface="Helvetica" pitchFamily="2" charset="0"/>
              </a:rPr>
              <a:t>4</a:t>
            </a:r>
            <a:r>
              <a:rPr lang="en-GB" b="0" i="0" dirty="0">
                <a:effectLst/>
                <a:highlight>
                  <a:srgbClr val="FFFFFF"/>
                </a:highlight>
                <a:latin typeface="Helvetica" pitchFamily="2" charset="0"/>
              </a:rPr>
              <a:t>+6</a:t>
            </a:r>
            <a:r>
              <a:rPr lang="en-GB" b="0" i="0" baseline="30000" dirty="0">
                <a:effectLst/>
                <a:highlight>
                  <a:srgbClr val="FFFFFF"/>
                </a:highlight>
                <a:latin typeface="Helvetica" pitchFamily="2" charset="0"/>
              </a:rPr>
              <a:t>4</a:t>
            </a:r>
            <a:r>
              <a:rPr lang="en-GB" b="0" i="0" dirty="0">
                <a:effectLst/>
                <a:highlight>
                  <a:srgbClr val="FFFFFF"/>
                </a:highlight>
                <a:latin typeface="Helvetica" pitchFamily="2" charset="0"/>
              </a:rPr>
              <a:t>+3</a:t>
            </a:r>
            <a:r>
              <a:rPr lang="en-GB" b="0" i="0" baseline="30000" dirty="0">
                <a:effectLst/>
                <a:highlight>
                  <a:srgbClr val="FFFFFF"/>
                </a:highlight>
                <a:latin typeface="Helvetica" pitchFamily="2" charset="0"/>
              </a:rPr>
              <a:t>4</a:t>
            </a:r>
            <a:r>
              <a:rPr lang="en-GB" b="0" i="0" dirty="0">
                <a:effectLst/>
                <a:highlight>
                  <a:srgbClr val="FFFFFF"/>
                </a:highlight>
                <a:latin typeface="Helvetica" pitchFamily="2" charset="0"/>
              </a:rPr>
              <a:t>+4</a:t>
            </a:r>
            <a:r>
              <a:rPr lang="en-GB" b="0" i="0" baseline="30000" dirty="0">
                <a:effectLst/>
                <a:highlight>
                  <a:srgbClr val="FFFFFF"/>
                </a:highlight>
                <a:latin typeface="Helvetica" pitchFamily="2" charset="0"/>
              </a:rPr>
              <a:t>4</a:t>
            </a:r>
            <a:r>
              <a:rPr lang="en-GB" b="0" i="0" dirty="0">
                <a:effectLst/>
                <a:highlight>
                  <a:srgbClr val="FFFFFF"/>
                </a:highlight>
                <a:latin typeface="Helvetica" pitchFamily="2" charset="0"/>
              </a:rPr>
              <a:t> = 1 + 1296 + 81 + 256</a:t>
            </a:r>
            <a:br>
              <a:rPr lang="en-GB" dirty="0"/>
            </a:br>
            <a:endParaRPr lang="en-B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A2977-E4BA-9011-96D1-CE42E7006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63FB9-D9FC-1443-87F0-89BFC2A29D29}" type="datetime1">
              <a:rPr lang="en-US" smtClean="0"/>
              <a:t>10/27/24</a:t>
            </a:fld>
            <a:endParaRPr lang="e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6DAD8-964F-2DF4-838B-684933B72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19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695706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1464C-1E7D-561A-72DD-166D9251A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Flowchart to check an integer is </a:t>
            </a:r>
            <a:r>
              <a:rPr lang="en-GB" dirty="0" err="1"/>
              <a:t>armstrong</a:t>
            </a:r>
            <a:r>
              <a:rPr lang="en-BD" dirty="0"/>
              <a:t> or not.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2FC475A-A1FB-74C2-C75D-3914C065E2A6}"/>
              </a:ext>
            </a:extLst>
          </p:cNvPr>
          <p:cNvSpPr/>
          <p:nvPr/>
        </p:nvSpPr>
        <p:spPr>
          <a:xfrm>
            <a:off x="2168758" y="1915884"/>
            <a:ext cx="1055802" cy="48076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Start</a:t>
            </a:r>
          </a:p>
        </p:txBody>
      </p:sp>
      <p:sp>
        <p:nvSpPr>
          <p:cNvPr id="5" name="Data 4">
            <a:extLst>
              <a:ext uri="{FF2B5EF4-FFF2-40B4-BE49-F238E27FC236}">
                <a16:creationId xmlns:a16="http://schemas.microsoft.com/office/drawing/2014/main" id="{237A37A5-C54F-638C-F966-BF8CF5ADFB0B}"/>
              </a:ext>
            </a:extLst>
          </p:cNvPr>
          <p:cNvSpPr/>
          <p:nvPr/>
        </p:nvSpPr>
        <p:spPr>
          <a:xfrm>
            <a:off x="1306205" y="2568514"/>
            <a:ext cx="2780907" cy="486904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Input num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4403BD-7AA6-9A39-AFE3-9938E952B506}"/>
              </a:ext>
            </a:extLst>
          </p:cNvPr>
          <p:cNvSpPr/>
          <p:nvPr/>
        </p:nvSpPr>
        <p:spPr>
          <a:xfrm>
            <a:off x="1933086" y="3261169"/>
            <a:ext cx="1527143" cy="4869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count</a:t>
            </a:r>
            <a:r>
              <a:rPr lang="en-BD" dirty="0"/>
              <a:t> = 0, temp = num 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74254D23-8EF4-81A1-12E3-529783782134}"/>
              </a:ext>
            </a:extLst>
          </p:cNvPr>
          <p:cNvSpPr/>
          <p:nvPr/>
        </p:nvSpPr>
        <p:spPr>
          <a:xfrm>
            <a:off x="1499453" y="3936609"/>
            <a:ext cx="2394408" cy="641023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temp != 0</a:t>
            </a:r>
            <a:endParaRPr lang="en-B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70BCA3-F3E1-DE48-EF48-2BCB61F0672E}"/>
              </a:ext>
            </a:extLst>
          </p:cNvPr>
          <p:cNvSpPr/>
          <p:nvPr/>
        </p:nvSpPr>
        <p:spPr>
          <a:xfrm>
            <a:off x="1306205" y="4817800"/>
            <a:ext cx="2780907" cy="7918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Count++,</a:t>
            </a:r>
          </a:p>
          <a:p>
            <a:pPr algn="ctr"/>
            <a:r>
              <a:rPr lang="en-GB" dirty="0"/>
              <a:t>temp = temp/10</a:t>
            </a:r>
            <a:endParaRPr lang="en-BD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9241A64-2428-ADD3-6DB6-667BB2D18867}"/>
              </a:ext>
            </a:extLst>
          </p:cNvPr>
          <p:cNvCxnSpPr>
            <a:stCxn id="4" idx="4"/>
            <a:endCxn id="5" idx="1"/>
          </p:cNvCxnSpPr>
          <p:nvPr/>
        </p:nvCxnSpPr>
        <p:spPr>
          <a:xfrm>
            <a:off x="2696659" y="2396651"/>
            <a:ext cx="0" cy="1718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C9EADC8-AEAF-A4EA-B802-AAB7CCE5BDE0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2696658" y="3055418"/>
            <a:ext cx="1" cy="205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FCC9592-AA2D-EB87-4E80-94615EDA2EB1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2696657" y="3748073"/>
            <a:ext cx="1" cy="1885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251D49-2E4F-DAD4-45B9-D5B926F350DA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2696657" y="4577632"/>
            <a:ext cx="2" cy="2401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B2740844-668D-FEC2-EF55-090DBC6BFF5C}"/>
              </a:ext>
            </a:extLst>
          </p:cNvPr>
          <p:cNvCxnSpPr>
            <a:cxnSpLocks/>
            <a:stCxn id="8" idx="1"/>
            <a:endCxn id="7" idx="1"/>
          </p:cNvCxnSpPr>
          <p:nvPr/>
        </p:nvCxnSpPr>
        <p:spPr>
          <a:xfrm rot="10800000" flipH="1">
            <a:off x="1306205" y="4257122"/>
            <a:ext cx="193248" cy="956605"/>
          </a:xfrm>
          <a:prstGeom prst="bentConnector3">
            <a:avLst>
              <a:gd name="adj1" fmla="val -11829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7689DCF-065E-7CC4-2AD6-4770142CBF34}"/>
              </a:ext>
            </a:extLst>
          </p:cNvPr>
          <p:cNvSpPr txBox="1"/>
          <p:nvPr/>
        </p:nvSpPr>
        <p:spPr>
          <a:xfrm>
            <a:off x="2890290" y="4465781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Yes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3938EA-7E18-32FB-E029-AB87E7979BFC}"/>
              </a:ext>
            </a:extLst>
          </p:cNvPr>
          <p:cNvSpPr txBox="1"/>
          <p:nvPr/>
        </p:nvSpPr>
        <p:spPr>
          <a:xfrm>
            <a:off x="4006985" y="3876660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No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36290B8-6374-9074-7F9A-4A3312472B26}"/>
              </a:ext>
            </a:extLst>
          </p:cNvPr>
          <p:cNvSpPr/>
          <p:nvPr/>
        </p:nvSpPr>
        <p:spPr>
          <a:xfrm>
            <a:off x="5859393" y="2035601"/>
            <a:ext cx="1527143" cy="28596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temp = num </a:t>
            </a:r>
          </a:p>
        </p:txBody>
      </p:sp>
      <p:sp>
        <p:nvSpPr>
          <p:cNvPr id="23" name="Diamond 22">
            <a:extLst>
              <a:ext uri="{FF2B5EF4-FFF2-40B4-BE49-F238E27FC236}">
                <a16:creationId xmlns:a16="http://schemas.microsoft.com/office/drawing/2014/main" id="{E6A804C4-4486-BAFA-9CF5-6481B714C4E9}"/>
              </a:ext>
            </a:extLst>
          </p:cNvPr>
          <p:cNvSpPr/>
          <p:nvPr/>
        </p:nvSpPr>
        <p:spPr>
          <a:xfrm>
            <a:off x="5425443" y="2491454"/>
            <a:ext cx="2394408" cy="641023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temp != 0</a:t>
            </a:r>
            <a:endParaRPr lang="en-BD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94D35D2-A9AC-3CDE-3E3C-0A050A4357B4}"/>
              </a:ext>
            </a:extLst>
          </p:cNvPr>
          <p:cNvSpPr/>
          <p:nvPr/>
        </p:nvSpPr>
        <p:spPr>
          <a:xfrm>
            <a:off x="5070995" y="3271894"/>
            <a:ext cx="3103303" cy="7918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rem = temp%10</a:t>
            </a:r>
          </a:p>
          <a:p>
            <a:pPr algn="ctr"/>
            <a:r>
              <a:rPr lang="en-GB" dirty="0"/>
              <a:t>sum = </a:t>
            </a:r>
            <a:r>
              <a:rPr lang="en-GB" dirty="0" err="1"/>
              <a:t>sum+pow</a:t>
            </a:r>
            <a:r>
              <a:rPr lang="en-GB" dirty="0"/>
              <a:t>(</a:t>
            </a:r>
            <a:r>
              <a:rPr lang="en-GB" dirty="0" err="1"/>
              <a:t>rem,count</a:t>
            </a:r>
            <a:r>
              <a:rPr lang="en-GB" dirty="0"/>
              <a:t>)</a:t>
            </a:r>
          </a:p>
          <a:p>
            <a:pPr algn="ctr"/>
            <a:r>
              <a:rPr lang="en-GB" dirty="0"/>
              <a:t>temp = temp/10</a:t>
            </a:r>
            <a:endParaRPr lang="en-BD" dirty="0"/>
          </a:p>
        </p:txBody>
      </p: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DD63078B-CEAA-ED65-C5B9-877AD83F4552}"/>
              </a:ext>
            </a:extLst>
          </p:cNvPr>
          <p:cNvCxnSpPr>
            <a:cxnSpLocks/>
          </p:cNvCxnSpPr>
          <p:nvPr/>
        </p:nvCxnSpPr>
        <p:spPr>
          <a:xfrm flipV="1">
            <a:off x="3903733" y="2035601"/>
            <a:ext cx="2729104" cy="2221520"/>
          </a:xfrm>
          <a:prstGeom prst="bentConnector4">
            <a:avLst>
              <a:gd name="adj1" fmla="val 19418"/>
              <a:gd name="adj2" fmla="val 11029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DE29C2F-ACDA-F836-FC80-63ED46AC3C13}"/>
              </a:ext>
            </a:extLst>
          </p:cNvPr>
          <p:cNvCxnSpPr>
            <a:stCxn id="22" idx="2"/>
            <a:endCxn id="23" idx="0"/>
          </p:cNvCxnSpPr>
          <p:nvPr/>
        </p:nvCxnSpPr>
        <p:spPr>
          <a:xfrm flipH="1">
            <a:off x="6622647" y="2321569"/>
            <a:ext cx="318" cy="1698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7D23880-D6C7-0C93-3CF1-0DAF0A36E49C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6622647" y="3132477"/>
            <a:ext cx="0" cy="1394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5F2C7384-FE8C-0280-3B5B-A79B42E303A0}"/>
              </a:ext>
            </a:extLst>
          </p:cNvPr>
          <p:cNvSpPr txBox="1"/>
          <p:nvPr/>
        </p:nvSpPr>
        <p:spPr>
          <a:xfrm>
            <a:off x="7207100" y="2933030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Yes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E1B501BF-3E4E-FBF3-D2C0-D848B56341CB}"/>
              </a:ext>
            </a:extLst>
          </p:cNvPr>
          <p:cNvCxnSpPr>
            <a:stCxn id="26" idx="1"/>
            <a:endCxn id="23" idx="1"/>
          </p:cNvCxnSpPr>
          <p:nvPr/>
        </p:nvCxnSpPr>
        <p:spPr>
          <a:xfrm rot="10800000" flipH="1">
            <a:off x="5070995" y="2811966"/>
            <a:ext cx="354448" cy="855854"/>
          </a:xfrm>
          <a:prstGeom prst="bentConnector3">
            <a:avLst>
              <a:gd name="adj1" fmla="val -6449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3AEE57C2-1C17-B3CE-9CDD-79B51FFD96AB}"/>
              </a:ext>
            </a:extLst>
          </p:cNvPr>
          <p:cNvSpPr/>
          <p:nvPr/>
        </p:nvSpPr>
        <p:spPr>
          <a:xfrm>
            <a:off x="8057845" y="6065626"/>
            <a:ext cx="987523" cy="3545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E</a:t>
            </a:r>
            <a:r>
              <a:rPr lang="en-BD" dirty="0"/>
              <a:t>nd 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BEB71F6-F389-64D5-2951-F5560E38C231}"/>
              </a:ext>
            </a:extLst>
          </p:cNvPr>
          <p:cNvCxnSpPr>
            <a:cxnSpLocks/>
          </p:cNvCxnSpPr>
          <p:nvPr/>
        </p:nvCxnSpPr>
        <p:spPr>
          <a:xfrm flipH="1">
            <a:off x="8541495" y="5898029"/>
            <a:ext cx="10112" cy="1718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Diamond 43">
            <a:extLst>
              <a:ext uri="{FF2B5EF4-FFF2-40B4-BE49-F238E27FC236}">
                <a16:creationId xmlns:a16="http://schemas.microsoft.com/office/drawing/2014/main" id="{66228947-BC16-FE2B-A73D-5E5A8EEE5E0D}"/>
              </a:ext>
            </a:extLst>
          </p:cNvPr>
          <p:cNvSpPr/>
          <p:nvPr/>
        </p:nvSpPr>
        <p:spPr>
          <a:xfrm>
            <a:off x="8275620" y="2491454"/>
            <a:ext cx="2840775" cy="641023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sum == </a:t>
            </a:r>
            <a:r>
              <a:rPr lang="en-GB" dirty="0" err="1"/>
              <a:t>num</a:t>
            </a:r>
            <a:endParaRPr lang="en-BD" dirty="0"/>
          </a:p>
        </p:txBody>
      </p:sp>
      <p:sp>
        <p:nvSpPr>
          <p:cNvPr id="45" name="Data 44">
            <a:extLst>
              <a:ext uri="{FF2B5EF4-FFF2-40B4-BE49-F238E27FC236}">
                <a16:creationId xmlns:a16="http://schemas.microsoft.com/office/drawing/2014/main" id="{529166F5-8D40-108A-61C6-BC82B965E225}"/>
              </a:ext>
            </a:extLst>
          </p:cNvPr>
          <p:cNvSpPr/>
          <p:nvPr/>
        </p:nvSpPr>
        <p:spPr>
          <a:xfrm>
            <a:off x="5440029" y="4697716"/>
            <a:ext cx="2607706" cy="767095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</a:t>
            </a:r>
            <a:r>
              <a:rPr lang="en-BD" dirty="0"/>
              <a:t>rint armstrong number</a:t>
            </a:r>
          </a:p>
        </p:txBody>
      </p:sp>
      <p:sp>
        <p:nvSpPr>
          <p:cNvPr id="46" name="Data 45">
            <a:extLst>
              <a:ext uri="{FF2B5EF4-FFF2-40B4-BE49-F238E27FC236}">
                <a16:creationId xmlns:a16="http://schemas.microsoft.com/office/drawing/2014/main" id="{B15B3E5D-284A-6984-D964-5270C98676FC}"/>
              </a:ext>
            </a:extLst>
          </p:cNvPr>
          <p:cNvSpPr/>
          <p:nvPr/>
        </p:nvSpPr>
        <p:spPr>
          <a:xfrm>
            <a:off x="9130163" y="4721777"/>
            <a:ext cx="2070372" cy="767096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</a:t>
            </a:r>
            <a:r>
              <a:rPr lang="en-BD" dirty="0"/>
              <a:t>rint not armstrong number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8D826DD-33AA-E1B4-BBBA-859B26365081}"/>
              </a:ext>
            </a:extLst>
          </p:cNvPr>
          <p:cNvSpPr/>
          <p:nvPr/>
        </p:nvSpPr>
        <p:spPr>
          <a:xfrm>
            <a:off x="8263230" y="5321275"/>
            <a:ext cx="576754" cy="57675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C040E387-C55E-FD80-9C66-B9AE1C4F5226}"/>
              </a:ext>
            </a:extLst>
          </p:cNvPr>
          <p:cNvCxnSpPr>
            <a:cxnSpLocks/>
            <a:stCxn id="45" idx="3"/>
            <a:endCxn id="49" idx="2"/>
          </p:cNvCxnSpPr>
          <p:nvPr/>
        </p:nvCxnSpPr>
        <p:spPr>
          <a:xfrm rot="16200000" flipH="1">
            <a:off x="7300750" y="4647171"/>
            <a:ext cx="144841" cy="178011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85C25434-D0A5-E70A-7CA5-9CFCE9C1DC63}"/>
              </a:ext>
            </a:extLst>
          </p:cNvPr>
          <p:cNvCxnSpPr>
            <a:cxnSpLocks/>
            <a:stCxn id="46" idx="4"/>
            <a:endCxn id="49" idx="6"/>
          </p:cNvCxnSpPr>
          <p:nvPr/>
        </p:nvCxnSpPr>
        <p:spPr>
          <a:xfrm rot="5400000">
            <a:off x="9442278" y="4886580"/>
            <a:ext cx="120779" cy="132536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773BF66-B1F1-B700-4BAB-46D51CD8875D}"/>
              </a:ext>
            </a:extLst>
          </p:cNvPr>
          <p:cNvSpPr txBox="1"/>
          <p:nvPr/>
        </p:nvSpPr>
        <p:spPr>
          <a:xfrm>
            <a:off x="9214328" y="3473009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Yes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2816326-EC3B-5F1A-D2DB-81AE0E2CB7E6}"/>
              </a:ext>
            </a:extLst>
          </p:cNvPr>
          <p:cNvSpPr txBox="1"/>
          <p:nvPr/>
        </p:nvSpPr>
        <p:spPr>
          <a:xfrm>
            <a:off x="10878990" y="3545764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No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0F0005C-AB21-7E4A-4841-E558FF638D24}"/>
              </a:ext>
            </a:extLst>
          </p:cNvPr>
          <p:cNvCxnSpPr>
            <a:cxnSpLocks/>
            <a:stCxn id="23" idx="3"/>
            <a:endCxn id="44" idx="1"/>
          </p:cNvCxnSpPr>
          <p:nvPr/>
        </p:nvCxnSpPr>
        <p:spPr>
          <a:xfrm>
            <a:off x="7819851" y="2811966"/>
            <a:ext cx="4557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ABEFE48-7BDA-2C5A-7FC8-F675D2409155}"/>
              </a:ext>
            </a:extLst>
          </p:cNvPr>
          <p:cNvSpPr txBox="1"/>
          <p:nvPr/>
        </p:nvSpPr>
        <p:spPr>
          <a:xfrm>
            <a:off x="7791183" y="2497047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dirty="0"/>
              <a:t>No</a:t>
            </a:r>
          </a:p>
        </p:txBody>
      </p:sp>
      <p:cxnSp>
        <p:nvCxnSpPr>
          <p:cNvPr id="89" name="Elbow Connector 88">
            <a:extLst>
              <a:ext uri="{FF2B5EF4-FFF2-40B4-BE49-F238E27FC236}">
                <a16:creationId xmlns:a16="http://schemas.microsoft.com/office/drawing/2014/main" id="{6904055B-C4C2-D665-9D64-7512CAB6236F}"/>
              </a:ext>
            </a:extLst>
          </p:cNvPr>
          <p:cNvCxnSpPr>
            <a:stCxn id="44" idx="2"/>
            <a:endCxn id="45" idx="1"/>
          </p:cNvCxnSpPr>
          <p:nvPr/>
        </p:nvCxnSpPr>
        <p:spPr>
          <a:xfrm rot="5400000">
            <a:off x="7437326" y="2439033"/>
            <a:ext cx="1565239" cy="2952126"/>
          </a:xfrm>
          <a:prstGeom prst="bentConnector3">
            <a:avLst>
              <a:gd name="adj1" fmla="val 7503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EFA9331F-C140-BD11-FA16-40CD258350FF}"/>
              </a:ext>
            </a:extLst>
          </p:cNvPr>
          <p:cNvCxnSpPr>
            <a:stCxn id="44" idx="3"/>
            <a:endCxn id="46" idx="0"/>
          </p:cNvCxnSpPr>
          <p:nvPr/>
        </p:nvCxnSpPr>
        <p:spPr>
          <a:xfrm flipH="1">
            <a:off x="10372386" y="2811966"/>
            <a:ext cx="744009" cy="1909811"/>
          </a:xfrm>
          <a:prstGeom prst="bentConnector4">
            <a:avLst>
              <a:gd name="adj1" fmla="val -30725"/>
              <a:gd name="adj2" fmla="val 5839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Date Placeholder 92">
            <a:extLst>
              <a:ext uri="{FF2B5EF4-FFF2-40B4-BE49-F238E27FC236}">
                <a16:creationId xmlns:a16="http://schemas.microsoft.com/office/drawing/2014/main" id="{B504DB39-06A5-25C1-CEBE-A67F4DE91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90D2C-4DC3-114D-BDE8-3E8D436F7162}" type="datetime1">
              <a:rPr lang="en-US" smtClean="0"/>
              <a:t>10/27/24</a:t>
            </a:fld>
            <a:endParaRPr lang="en-BD"/>
          </a:p>
        </p:txBody>
      </p:sp>
      <p:sp>
        <p:nvSpPr>
          <p:cNvPr id="94" name="Slide Number Placeholder 93">
            <a:extLst>
              <a:ext uri="{FF2B5EF4-FFF2-40B4-BE49-F238E27FC236}">
                <a16:creationId xmlns:a16="http://schemas.microsoft.com/office/drawing/2014/main" id="{C5EC3174-0011-FB59-3DD7-BE4B298ED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20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7452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B467B-45B6-4B44-5C22-7E9317E70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Algorithm to check an integer is </a:t>
            </a:r>
            <a:r>
              <a:rPr lang="en-GB" dirty="0" err="1"/>
              <a:t>armstrong</a:t>
            </a:r>
            <a:r>
              <a:rPr lang="en-BD" dirty="0"/>
              <a:t> or not.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8AC1EC-1956-1906-8113-17AC1E41DE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BD" dirty="0"/>
              <a:t>Start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Input a number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</a:t>
            </a:r>
            <a:r>
              <a:rPr lang="en-BD" dirty="0"/>
              <a:t>emp = num, count=0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</a:t>
            </a:r>
            <a:r>
              <a:rPr lang="en-BD" dirty="0"/>
              <a:t>hile (temp!=0):</a:t>
            </a:r>
          </a:p>
          <a:p>
            <a:pPr lvl="1"/>
            <a:r>
              <a:rPr lang="en-GB" dirty="0"/>
              <a:t>count++</a:t>
            </a:r>
          </a:p>
          <a:p>
            <a:pPr lvl="1"/>
            <a:r>
              <a:rPr lang="en-GB" dirty="0"/>
              <a:t>temp = temp/10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temp=</a:t>
            </a:r>
            <a:r>
              <a:rPr lang="en-GB" dirty="0" err="1"/>
              <a:t>num</a:t>
            </a:r>
            <a:endParaRPr lang="en-BD" dirty="0"/>
          </a:p>
          <a:p>
            <a:endParaRPr lang="en-BD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65CAD3-EA60-7E15-F420-0ECD4E64C4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6"/>
            </a:pPr>
            <a:r>
              <a:rPr lang="en-GB" dirty="0"/>
              <a:t>w</a:t>
            </a:r>
            <a:r>
              <a:rPr lang="en-BD" dirty="0"/>
              <a:t>hile (temp!=0):</a:t>
            </a:r>
          </a:p>
          <a:p>
            <a:pPr lvl="1"/>
            <a:r>
              <a:rPr lang="en-GB" dirty="0"/>
              <a:t>rem = temp%10</a:t>
            </a:r>
          </a:p>
          <a:p>
            <a:pPr lvl="1"/>
            <a:r>
              <a:rPr lang="en-GB" dirty="0"/>
              <a:t>sum = sum + pow(</a:t>
            </a:r>
            <a:r>
              <a:rPr lang="en-GB" dirty="0" err="1"/>
              <a:t>rem,count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temp = temp/10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GB" dirty="0"/>
              <a:t>Is (</a:t>
            </a:r>
            <a:r>
              <a:rPr lang="en-GB" dirty="0" err="1"/>
              <a:t>num</a:t>
            </a:r>
            <a:r>
              <a:rPr lang="en-GB" dirty="0"/>
              <a:t>==sum):</a:t>
            </a:r>
          </a:p>
          <a:p>
            <a:pPr lvl="1"/>
            <a:r>
              <a:rPr lang="en-GB" dirty="0"/>
              <a:t>Yes, print it is an Armstrong number</a:t>
            </a:r>
          </a:p>
          <a:p>
            <a:pPr lvl="1"/>
            <a:r>
              <a:rPr lang="en-GB" dirty="0"/>
              <a:t>No,  print it is not an Armstrong number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GB" dirty="0"/>
              <a:t>End</a:t>
            </a:r>
          </a:p>
          <a:p>
            <a:endParaRPr lang="en-BD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772C4C0-193D-99BD-E4ED-B5376DD74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3104D-66D5-4F44-88E3-935575C51A04}" type="datetime1">
              <a:rPr lang="en-US" smtClean="0"/>
              <a:t>10/27/24</a:t>
            </a:fld>
            <a:endParaRPr lang="e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E1663-3335-BAF3-1162-903BA7CFD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21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871599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D52EE-4607-3091-39DD-84DF32C1D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C program to check if a number is armstrong </a:t>
            </a:r>
            <a:r>
              <a:rPr lang="en-GB" dirty="0"/>
              <a:t>or not</a:t>
            </a:r>
            <a:endParaRPr lang="en-BD" dirty="0"/>
          </a:p>
        </p:txBody>
      </p:sp>
      <p:pic>
        <p:nvPicPr>
          <p:cNvPr id="5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3A12A5F9-649B-67C0-9752-AA3BAE5CB1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0162" y="1690687"/>
            <a:ext cx="5887358" cy="4910409"/>
          </a:xfrm>
        </p:spPr>
      </p:pic>
      <p:pic>
        <p:nvPicPr>
          <p:cNvPr id="7" name="Picture 6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1F950EFC-A795-9176-920B-451E6F58C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1567" y="1690686"/>
            <a:ext cx="6072233" cy="2832100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E9BBEEC1-A27C-3D25-7BC9-A226251DC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3578" y="4685210"/>
            <a:ext cx="3960222" cy="1933913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9D38B79-E204-2B63-9F01-20726A052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74AA7-0B84-B44B-A20C-F8D90C8FC1FF}" type="datetime1">
              <a:rPr lang="en-US" smtClean="0"/>
              <a:t>10/27/24</a:t>
            </a:fld>
            <a:endParaRPr lang="en-BD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C86239D-8EF3-1F4D-FDA6-45141D3E9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22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8068845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45842-0D64-D4CF-F8EB-804652B06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406" y="135459"/>
            <a:ext cx="10515600" cy="1325563"/>
          </a:xfrm>
        </p:spPr>
        <p:txBody>
          <a:bodyPr/>
          <a:lstStyle/>
          <a:p>
            <a:r>
              <a:rPr lang="en-BD" dirty="0"/>
              <a:t>Flowchart to check if a number is prime, co-prime or not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73F12D4-7A9D-2A45-0B8C-72402EEDD621}"/>
              </a:ext>
            </a:extLst>
          </p:cNvPr>
          <p:cNvSpPr/>
          <p:nvPr/>
        </p:nvSpPr>
        <p:spPr>
          <a:xfrm>
            <a:off x="3274422" y="1638436"/>
            <a:ext cx="966652" cy="32970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Start</a:t>
            </a:r>
          </a:p>
        </p:txBody>
      </p:sp>
      <p:sp>
        <p:nvSpPr>
          <p:cNvPr id="5" name="Data 4">
            <a:extLst>
              <a:ext uri="{FF2B5EF4-FFF2-40B4-BE49-F238E27FC236}">
                <a16:creationId xmlns:a16="http://schemas.microsoft.com/office/drawing/2014/main" id="{85274155-04BD-234E-6AA6-80771FA9883E}"/>
              </a:ext>
            </a:extLst>
          </p:cNvPr>
          <p:cNvSpPr/>
          <p:nvPr/>
        </p:nvSpPr>
        <p:spPr>
          <a:xfrm>
            <a:off x="2666994" y="2069089"/>
            <a:ext cx="2185852" cy="269966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</a:t>
            </a:r>
            <a:r>
              <a:rPr lang="en-BD" dirty="0"/>
              <a:t>nput num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0FDB57-2D58-F7B1-8F2F-C3D8CC460469}"/>
              </a:ext>
            </a:extLst>
          </p:cNvPr>
          <p:cNvSpPr/>
          <p:nvPr/>
        </p:nvSpPr>
        <p:spPr>
          <a:xfrm>
            <a:off x="2880854" y="3494725"/>
            <a:ext cx="1759131" cy="3135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i=2, count=0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D1AA5110-A706-4F2B-A7F6-4AD7A8262CBC}"/>
              </a:ext>
            </a:extLst>
          </p:cNvPr>
          <p:cNvSpPr/>
          <p:nvPr/>
        </p:nvSpPr>
        <p:spPr>
          <a:xfrm>
            <a:off x="1970309" y="3940664"/>
            <a:ext cx="3587931" cy="400594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i&lt;=(num/2)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A3363D32-E12A-7F1B-DDD3-EB181AC31A16}"/>
              </a:ext>
            </a:extLst>
          </p:cNvPr>
          <p:cNvSpPr/>
          <p:nvPr/>
        </p:nvSpPr>
        <p:spPr>
          <a:xfrm>
            <a:off x="2455811" y="4532289"/>
            <a:ext cx="2616926" cy="400594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N</a:t>
            </a:r>
            <a:r>
              <a:rPr lang="en-BD" dirty="0"/>
              <a:t>um%i==0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AAEA97-E6E2-91BA-2857-F282C15A03B5}"/>
              </a:ext>
            </a:extLst>
          </p:cNvPr>
          <p:cNvSpPr/>
          <p:nvPr/>
        </p:nvSpPr>
        <p:spPr>
          <a:xfrm>
            <a:off x="2884708" y="5188497"/>
            <a:ext cx="1759131" cy="3135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count=1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8C3E60D4-BE3B-622D-253F-D5FEE468C076}"/>
              </a:ext>
            </a:extLst>
          </p:cNvPr>
          <p:cNvSpPr/>
          <p:nvPr/>
        </p:nvSpPr>
        <p:spPr>
          <a:xfrm>
            <a:off x="6629397" y="3934611"/>
            <a:ext cx="2464526" cy="400594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  <a:r>
              <a:rPr lang="en-BD" dirty="0"/>
              <a:t>ount==0</a:t>
            </a:r>
          </a:p>
        </p:txBody>
      </p:sp>
      <p:sp>
        <p:nvSpPr>
          <p:cNvPr id="11" name="Data 10">
            <a:extLst>
              <a:ext uri="{FF2B5EF4-FFF2-40B4-BE49-F238E27FC236}">
                <a16:creationId xmlns:a16="http://schemas.microsoft.com/office/drawing/2014/main" id="{A8BFE2D7-3B21-6413-1418-5F923E019E26}"/>
              </a:ext>
            </a:extLst>
          </p:cNvPr>
          <p:cNvSpPr/>
          <p:nvPr/>
        </p:nvSpPr>
        <p:spPr>
          <a:xfrm>
            <a:off x="6768734" y="5088178"/>
            <a:ext cx="2185852" cy="590006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Print not prime</a:t>
            </a:r>
          </a:p>
        </p:txBody>
      </p:sp>
      <p:sp>
        <p:nvSpPr>
          <p:cNvPr id="12" name="Data 11">
            <a:extLst>
              <a:ext uri="{FF2B5EF4-FFF2-40B4-BE49-F238E27FC236}">
                <a16:creationId xmlns:a16="http://schemas.microsoft.com/office/drawing/2014/main" id="{7849099B-8719-22D8-220C-091E86FB3654}"/>
              </a:ext>
            </a:extLst>
          </p:cNvPr>
          <p:cNvSpPr/>
          <p:nvPr/>
        </p:nvSpPr>
        <p:spPr>
          <a:xfrm>
            <a:off x="9270273" y="5088179"/>
            <a:ext cx="2185852" cy="437446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</a:t>
            </a:r>
            <a:r>
              <a:rPr lang="en-BD" dirty="0"/>
              <a:t>rint prime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BCBE1D2-8390-B581-9E44-16DE66A9CDED}"/>
              </a:ext>
            </a:extLst>
          </p:cNvPr>
          <p:cNvCxnSpPr>
            <a:stCxn id="4" idx="4"/>
            <a:endCxn id="5" idx="1"/>
          </p:cNvCxnSpPr>
          <p:nvPr/>
        </p:nvCxnSpPr>
        <p:spPr>
          <a:xfrm>
            <a:off x="3757748" y="1968137"/>
            <a:ext cx="2172" cy="100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6A12CA4-7B6E-C7E6-38E1-2B580C5F3F1C}"/>
              </a:ext>
            </a:extLst>
          </p:cNvPr>
          <p:cNvCxnSpPr>
            <a:cxnSpLocks/>
            <a:stCxn id="5" idx="4"/>
          </p:cNvCxnSpPr>
          <p:nvPr/>
        </p:nvCxnSpPr>
        <p:spPr>
          <a:xfrm flipH="1">
            <a:off x="3757746" y="2339055"/>
            <a:ext cx="2174" cy="1428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2639E85-F757-44D9-9FFC-AD312597D2FE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3760420" y="3808233"/>
            <a:ext cx="3855" cy="1324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B076551-F51E-CEDB-0CF0-E2F93C20F08A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3764274" y="4341258"/>
            <a:ext cx="1" cy="1910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345E03C-AAD1-C60B-4068-4CC83F411D60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3764274" y="4932883"/>
            <a:ext cx="0" cy="2556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BCC7E05-5C24-468E-F5B5-2806B4ECB68F}"/>
              </a:ext>
            </a:extLst>
          </p:cNvPr>
          <p:cNvCxnSpPr>
            <a:stCxn id="10" idx="2"/>
            <a:endCxn id="11" idx="1"/>
          </p:cNvCxnSpPr>
          <p:nvPr/>
        </p:nvCxnSpPr>
        <p:spPr>
          <a:xfrm>
            <a:off x="7861660" y="4335205"/>
            <a:ext cx="0" cy="7529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4A93357E-9A88-2840-67AF-913F05B682BD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9093923" y="4134908"/>
            <a:ext cx="1269276" cy="95327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6460286-54F4-F8CF-9192-3A65817F5710}"/>
              </a:ext>
            </a:extLst>
          </p:cNvPr>
          <p:cNvSpPr txBox="1"/>
          <p:nvPr/>
        </p:nvSpPr>
        <p:spPr>
          <a:xfrm>
            <a:off x="9283335" y="3814549"/>
            <a:ext cx="4143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1200" dirty="0"/>
              <a:t>Yes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390D5FE-D35A-8FCF-C718-8E2233D86225}"/>
              </a:ext>
            </a:extLst>
          </p:cNvPr>
          <p:cNvSpPr txBox="1"/>
          <p:nvPr/>
        </p:nvSpPr>
        <p:spPr>
          <a:xfrm>
            <a:off x="7886844" y="4744154"/>
            <a:ext cx="3786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1200" dirty="0"/>
              <a:t>No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B73E4AB-2DEC-C74D-EF7F-626C6D7BFBC8}"/>
              </a:ext>
            </a:extLst>
          </p:cNvPr>
          <p:cNvSpPr txBox="1"/>
          <p:nvPr/>
        </p:nvSpPr>
        <p:spPr>
          <a:xfrm>
            <a:off x="5550361" y="3688101"/>
            <a:ext cx="3786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1200" dirty="0"/>
              <a:t>No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DCD1CE-DF6E-1268-49E2-74D7FD734EAA}"/>
              </a:ext>
            </a:extLst>
          </p:cNvPr>
          <p:cNvSpPr txBox="1"/>
          <p:nvPr/>
        </p:nvSpPr>
        <p:spPr>
          <a:xfrm>
            <a:off x="3911256" y="4311868"/>
            <a:ext cx="4143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1200" dirty="0"/>
              <a:t>Yes</a:t>
            </a:r>
          </a:p>
        </p:txBody>
      </p: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69EB787C-3862-5787-13BD-3723CBCF6DB3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5558240" y="3928558"/>
            <a:ext cx="2268586" cy="212403"/>
          </a:xfrm>
          <a:prstGeom prst="bentConnector3">
            <a:avLst>
              <a:gd name="adj1" fmla="val 9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018AD245-2146-A1BD-11FF-394D04D3F668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4643839" y="4134908"/>
            <a:ext cx="1985558" cy="121034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3975C5BB-664F-08EB-794D-90230568BBCF}"/>
              </a:ext>
            </a:extLst>
          </p:cNvPr>
          <p:cNvSpPr txBox="1"/>
          <p:nvPr/>
        </p:nvSpPr>
        <p:spPr>
          <a:xfrm>
            <a:off x="3903709" y="4882654"/>
            <a:ext cx="4143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1200" dirty="0"/>
              <a:t>Yes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2DE062F-4FB1-BC4B-5B26-984F2BD1448B}"/>
              </a:ext>
            </a:extLst>
          </p:cNvPr>
          <p:cNvSpPr/>
          <p:nvPr/>
        </p:nvSpPr>
        <p:spPr>
          <a:xfrm>
            <a:off x="1639385" y="5925102"/>
            <a:ext cx="1095103" cy="3135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i= </a:t>
            </a:r>
            <a:r>
              <a:rPr lang="en-GB" dirty="0" err="1"/>
              <a:t>i</a:t>
            </a:r>
            <a:r>
              <a:rPr lang="en-BD" dirty="0"/>
              <a:t>+1</a:t>
            </a:r>
          </a:p>
        </p:txBody>
      </p: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C1927566-0C16-D6D7-81A4-1EF37DF345CD}"/>
              </a:ext>
            </a:extLst>
          </p:cNvPr>
          <p:cNvCxnSpPr>
            <a:stCxn id="8" idx="1"/>
            <a:endCxn id="52" idx="0"/>
          </p:cNvCxnSpPr>
          <p:nvPr/>
        </p:nvCxnSpPr>
        <p:spPr>
          <a:xfrm rot="10800000" flipV="1">
            <a:off x="2186937" y="4732586"/>
            <a:ext cx="268874" cy="119251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187F23F-AB99-8C78-598F-4D35D91BFA59}"/>
              </a:ext>
            </a:extLst>
          </p:cNvPr>
          <p:cNvSpPr txBox="1"/>
          <p:nvPr/>
        </p:nvSpPr>
        <p:spPr>
          <a:xfrm>
            <a:off x="2142209" y="4728704"/>
            <a:ext cx="3786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1200" dirty="0"/>
              <a:t>No</a:t>
            </a:r>
          </a:p>
        </p:txBody>
      </p: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EDB65BA2-659D-6041-86F2-CCB4B6B430F5}"/>
              </a:ext>
            </a:extLst>
          </p:cNvPr>
          <p:cNvCxnSpPr>
            <a:cxnSpLocks/>
            <a:stCxn id="52" idx="1"/>
            <a:endCxn id="7" idx="1"/>
          </p:cNvCxnSpPr>
          <p:nvPr/>
        </p:nvCxnSpPr>
        <p:spPr>
          <a:xfrm rot="10800000" flipH="1">
            <a:off x="1639385" y="4140962"/>
            <a:ext cx="330924" cy="1940895"/>
          </a:xfrm>
          <a:prstGeom prst="bentConnector3">
            <a:avLst>
              <a:gd name="adj1" fmla="val -6907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1435F2CA-2665-6876-3B4D-2F18A2F1B8A8}"/>
              </a:ext>
            </a:extLst>
          </p:cNvPr>
          <p:cNvSpPr/>
          <p:nvPr/>
        </p:nvSpPr>
        <p:spPr>
          <a:xfrm>
            <a:off x="8610596" y="6141745"/>
            <a:ext cx="966652" cy="32970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End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FF65D60B-5276-220E-F6A9-FA270986A907}"/>
              </a:ext>
            </a:extLst>
          </p:cNvPr>
          <p:cNvSpPr/>
          <p:nvPr/>
        </p:nvSpPr>
        <p:spPr>
          <a:xfrm>
            <a:off x="8919750" y="5670482"/>
            <a:ext cx="348343" cy="34834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BD"/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EE034E8A-6D78-53E8-F8D3-E8E93B7D373B}"/>
              </a:ext>
            </a:extLst>
          </p:cNvPr>
          <p:cNvCxnSpPr>
            <a:stCxn id="85" idx="4"/>
            <a:endCxn id="60" idx="0"/>
          </p:cNvCxnSpPr>
          <p:nvPr/>
        </p:nvCxnSpPr>
        <p:spPr>
          <a:xfrm>
            <a:off x="9093922" y="6018825"/>
            <a:ext cx="0" cy="1229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6B09E5A6-114E-12A9-4A2B-66815AD48E41}"/>
              </a:ext>
            </a:extLst>
          </p:cNvPr>
          <p:cNvCxnSpPr>
            <a:stCxn id="11" idx="3"/>
            <a:endCxn id="85" idx="2"/>
          </p:cNvCxnSpPr>
          <p:nvPr/>
        </p:nvCxnSpPr>
        <p:spPr>
          <a:xfrm rot="16200000" flipH="1">
            <a:off x="8198177" y="5123081"/>
            <a:ext cx="166470" cy="127667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063C2E53-EAF4-9FE2-4B7A-A40C6188ACF7}"/>
              </a:ext>
            </a:extLst>
          </p:cNvPr>
          <p:cNvCxnSpPr>
            <a:stCxn id="12" idx="4"/>
            <a:endCxn id="85" idx="6"/>
          </p:cNvCxnSpPr>
          <p:nvPr/>
        </p:nvCxnSpPr>
        <p:spPr>
          <a:xfrm rot="5400000">
            <a:off x="9656132" y="5137586"/>
            <a:ext cx="319029" cy="109510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Diamond 92">
            <a:extLst>
              <a:ext uri="{FF2B5EF4-FFF2-40B4-BE49-F238E27FC236}">
                <a16:creationId xmlns:a16="http://schemas.microsoft.com/office/drawing/2014/main" id="{31F077A3-3C9B-98DC-3EBF-4985472DC14E}"/>
              </a:ext>
            </a:extLst>
          </p:cNvPr>
          <p:cNvSpPr/>
          <p:nvPr/>
        </p:nvSpPr>
        <p:spPr>
          <a:xfrm>
            <a:off x="2117268" y="2473804"/>
            <a:ext cx="3278707" cy="308118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n</a:t>
            </a:r>
            <a:r>
              <a:rPr lang="en-BD" dirty="0"/>
              <a:t>um==1</a:t>
            </a:r>
          </a:p>
        </p:txBody>
      </p:sp>
      <p:sp>
        <p:nvSpPr>
          <p:cNvPr id="98" name="Data 97">
            <a:extLst>
              <a:ext uri="{FF2B5EF4-FFF2-40B4-BE49-F238E27FC236}">
                <a16:creationId xmlns:a16="http://schemas.microsoft.com/office/drawing/2014/main" id="{9013B192-3049-9AE5-BB78-A969ED09E5C1}"/>
              </a:ext>
            </a:extLst>
          </p:cNvPr>
          <p:cNvSpPr/>
          <p:nvPr/>
        </p:nvSpPr>
        <p:spPr>
          <a:xfrm>
            <a:off x="6649935" y="2487474"/>
            <a:ext cx="2688763" cy="308118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BD" dirty="0"/>
              <a:t>Print co prime</a:t>
            </a:r>
          </a:p>
        </p:txBody>
      </p:sp>
      <p:sp>
        <p:nvSpPr>
          <p:cNvPr id="101" name="Diamond 100">
            <a:extLst>
              <a:ext uri="{FF2B5EF4-FFF2-40B4-BE49-F238E27FC236}">
                <a16:creationId xmlns:a16="http://schemas.microsoft.com/office/drawing/2014/main" id="{0A4E53BA-0E95-75B2-E700-649501468E0D}"/>
              </a:ext>
            </a:extLst>
          </p:cNvPr>
          <p:cNvSpPr/>
          <p:nvPr/>
        </p:nvSpPr>
        <p:spPr>
          <a:xfrm>
            <a:off x="1647516" y="2876455"/>
            <a:ext cx="4218210" cy="501675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n</a:t>
            </a:r>
            <a:r>
              <a:rPr lang="en-BD" dirty="0"/>
              <a:t>um==2 || num ==3 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563648F5-D3E5-C97F-78FF-0B008A919623}"/>
              </a:ext>
            </a:extLst>
          </p:cNvPr>
          <p:cNvCxnSpPr>
            <a:stCxn id="93" idx="2"/>
            <a:endCxn id="101" idx="0"/>
          </p:cNvCxnSpPr>
          <p:nvPr/>
        </p:nvCxnSpPr>
        <p:spPr>
          <a:xfrm flipH="1">
            <a:off x="3756621" y="2781922"/>
            <a:ext cx="1" cy="945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5FD40C2E-51A0-74EB-68C5-2C02AD367B08}"/>
              </a:ext>
            </a:extLst>
          </p:cNvPr>
          <p:cNvCxnSpPr>
            <a:stCxn id="101" idx="2"/>
            <a:endCxn id="6" idx="0"/>
          </p:cNvCxnSpPr>
          <p:nvPr/>
        </p:nvCxnSpPr>
        <p:spPr>
          <a:xfrm>
            <a:off x="3756621" y="3378130"/>
            <a:ext cx="3799" cy="1165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A9CBCEBF-917F-6C7F-3F19-03A18C545335}"/>
              </a:ext>
            </a:extLst>
          </p:cNvPr>
          <p:cNvSpPr txBox="1"/>
          <p:nvPr/>
        </p:nvSpPr>
        <p:spPr>
          <a:xfrm>
            <a:off x="5799658" y="2348974"/>
            <a:ext cx="4143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1200" dirty="0"/>
              <a:t>Yes</a:t>
            </a:r>
          </a:p>
        </p:txBody>
      </p:sp>
      <p:sp>
        <p:nvSpPr>
          <p:cNvPr id="120" name="Data 119">
            <a:extLst>
              <a:ext uri="{FF2B5EF4-FFF2-40B4-BE49-F238E27FC236}">
                <a16:creationId xmlns:a16="http://schemas.microsoft.com/office/drawing/2014/main" id="{77F004C3-6B62-F35C-9B0E-15203F45BCB1}"/>
              </a:ext>
            </a:extLst>
          </p:cNvPr>
          <p:cNvSpPr/>
          <p:nvPr/>
        </p:nvSpPr>
        <p:spPr>
          <a:xfrm>
            <a:off x="6692533" y="2966482"/>
            <a:ext cx="2185852" cy="308118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P</a:t>
            </a:r>
            <a:r>
              <a:rPr lang="en-BD" dirty="0"/>
              <a:t>rint prime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4741AB46-2950-E328-70C0-4C414D44B8F2}"/>
              </a:ext>
            </a:extLst>
          </p:cNvPr>
          <p:cNvCxnSpPr>
            <a:stCxn id="93" idx="3"/>
            <a:endCxn id="98" idx="2"/>
          </p:cNvCxnSpPr>
          <p:nvPr/>
        </p:nvCxnSpPr>
        <p:spPr>
          <a:xfrm>
            <a:off x="5395975" y="2627863"/>
            <a:ext cx="1522836" cy="136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419D7AC6-8D5D-61EC-735B-471234B64A1F}"/>
              </a:ext>
            </a:extLst>
          </p:cNvPr>
          <p:cNvCxnSpPr>
            <a:stCxn id="101" idx="3"/>
            <a:endCxn id="120" idx="2"/>
          </p:cNvCxnSpPr>
          <p:nvPr/>
        </p:nvCxnSpPr>
        <p:spPr>
          <a:xfrm flipV="1">
            <a:off x="5865726" y="3120541"/>
            <a:ext cx="1045392" cy="67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F0E3D9EB-12C6-D4FB-4BCF-C0560F7E6126}"/>
              </a:ext>
            </a:extLst>
          </p:cNvPr>
          <p:cNvSpPr txBox="1"/>
          <p:nvPr/>
        </p:nvSpPr>
        <p:spPr>
          <a:xfrm>
            <a:off x="6136352" y="2874530"/>
            <a:ext cx="4143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1200" dirty="0"/>
              <a:t>Yes</a:t>
            </a:r>
          </a:p>
        </p:txBody>
      </p:sp>
      <p:cxnSp>
        <p:nvCxnSpPr>
          <p:cNvPr id="129" name="Elbow Connector 128">
            <a:extLst>
              <a:ext uri="{FF2B5EF4-FFF2-40B4-BE49-F238E27FC236}">
                <a16:creationId xmlns:a16="http://schemas.microsoft.com/office/drawing/2014/main" id="{64C2C278-1D00-6E3D-22C7-27992F8D2D3B}"/>
              </a:ext>
            </a:extLst>
          </p:cNvPr>
          <p:cNvCxnSpPr>
            <a:stCxn id="98" idx="5"/>
            <a:endCxn id="85" idx="5"/>
          </p:cNvCxnSpPr>
          <p:nvPr/>
        </p:nvCxnSpPr>
        <p:spPr>
          <a:xfrm>
            <a:off x="9069822" y="2641533"/>
            <a:ext cx="147257" cy="3326278"/>
          </a:xfrm>
          <a:prstGeom prst="bentConnector4">
            <a:avLst>
              <a:gd name="adj1" fmla="val 1686187"/>
              <a:gd name="adj2" fmla="val 10029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Elbow Connector 132">
            <a:extLst>
              <a:ext uri="{FF2B5EF4-FFF2-40B4-BE49-F238E27FC236}">
                <a16:creationId xmlns:a16="http://schemas.microsoft.com/office/drawing/2014/main" id="{E9145ADD-03BD-1054-AFE0-AFC7E5BFCE10}"/>
              </a:ext>
            </a:extLst>
          </p:cNvPr>
          <p:cNvCxnSpPr>
            <a:cxnSpLocks/>
            <a:stCxn id="120" idx="5"/>
          </p:cNvCxnSpPr>
          <p:nvPr/>
        </p:nvCxnSpPr>
        <p:spPr>
          <a:xfrm>
            <a:off x="8659800" y="3120541"/>
            <a:ext cx="558146" cy="265078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CE5CA98B-1DB0-C69D-E526-19B58A3A5ECB}"/>
              </a:ext>
            </a:extLst>
          </p:cNvPr>
          <p:cNvSpPr txBox="1"/>
          <p:nvPr/>
        </p:nvSpPr>
        <p:spPr>
          <a:xfrm>
            <a:off x="4094581" y="2707289"/>
            <a:ext cx="5276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D" sz="1200" dirty="0"/>
              <a:t>No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EB3657F3-D420-E007-F0BC-C032E4FA66EF}"/>
              </a:ext>
            </a:extLst>
          </p:cNvPr>
          <p:cNvSpPr txBox="1"/>
          <p:nvPr/>
        </p:nvSpPr>
        <p:spPr>
          <a:xfrm>
            <a:off x="4175225" y="3277094"/>
            <a:ext cx="5276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D" sz="1200" dirty="0"/>
              <a:t>No</a:t>
            </a:r>
          </a:p>
        </p:txBody>
      </p:sp>
      <p:sp>
        <p:nvSpPr>
          <p:cNvPr id="145" name="Date Placeholder 144">
            <a:extLst>
              <a:ext uri="{FF2B5EF4-FFF2-40B4-BE49-F238E27FC236}">
                <a16:creationId xmlns:a16="http://schemas.microsoft.com/office/drawing/2014/main" id="{A6E73148-79D8-599B-9533-4192918D7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D5710-F7FF-CE40-9DC3-D4E3020526F7}" type="datetime1">
              <a:rPr lang="en-US" smtClean="0"/>
              <a:t>10/27/24</a:t>
            </a:fld>
            <a:endParaRPr lang="en-BD"/>
          </a:p>
        </p:txBody>
      </p:sp>
      <p:sp>
        <p:nvSpPr>
          <p:cNvPr id="146" name="Slide Number Placeholder 145">
            <a:extLst>
              <a:ext uri="{FF2B5EF4-FFF2-40B4-BE49-F238E27FC236}">
                <a16:creationId xmlns:a16="http://schemas.microsoft.com/office/drawing/2014/main" id="{BD2EBD49-5999-91A9-7284-2B3AEF0B3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23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04715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674AC-4A56-F158-FE5D-8E6340ECC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Algorithm to check if a number is co-prime, prime or not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A797D-CAE1-B3FF-BB1C-C49DF67FA5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BD" dirty="0"/>
              <a:t>Start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Input num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i=2, count=0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Is (num==1):</a:t>
            </a:r>
          </a:p>
          <a:p>
            <a:pPr lvl="1"/>
            <a:r>
              <a:rPr lang="en-GB" dirty="0"/>
              <a:t>Yes, print co-prime and go to step 9</a:t>
            </a:r>
          </a:p>
          <a:p>
            <a:pPr lvl="1"/>
            <a:r>
              <a:rPr lang="en-BD" dirty="0"/>
              <a:t>No, go to next step</a:t>
            </a:r>
          </a:p>
          <a:p>
            <a:pPr marL="514350" indent="-514350">
              <a:buFont typeface="+mj-lt"/>
              <a:buAutoNum type="arabicPeriod"/>
            </a:pPr>
            <a:r>
              <a:rPr lang="en-BD" dirty="0"/>
              <a:t>Is (num==2) OR (num==3): </a:t>
            </a:r>
          </a:p>
          <a:p>
            <a:pPr lvl="1"/>
            <a:r>
              <a:rPr lang="en-GB" dirty="0"/>
              <a:t>Yes, print prime and go to step 9</a:t>
            </a:r>
          </a:p>
          <a:p>
            <a:pPr lvl="1"/>
            <a:r>
              <a:rPr lang="en-BD" dirty="0"/>
              <a:t>No, go to next step</a:t>
            </a:r>
          </a:p>
          <a:p>
            <a:pPr marL="457200" lvl="1" indent="0">
              <a:buNone/>
            </a:pPr>
            <a:endParaRPr lang="en-GB" dirty="0"/>
          </a:p>
          <a:p>
            <a:endParaRPr lang="en-BD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900E35B-6126-F638-E687-488242ACD2B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en-BD" dirty="0"/>
              <a:t>Is </a:t>
            </a:r>
            <a:r>
              <a:rPr lang="en-GB" dirty="0" err="1"/>
              <a:t>i</a:t>
            </a:r>
            <a:r>
              <a:rPr lang="en-BD" dirty="0"/>
              <a:t> &lt;= (num/2):</a:t>
            </a:r>
          </a:p>
          <a:p>
            <a:pPr lvl="1"/>
            <a:r>
              <a:rPr lang="en-BD" dirty="0"/>
              <a:t>Yes, go to step 7</a:t>
            </a:r>
          </a:p>
          <a:p>
            <a:pPr lvl="1"/>
            <a:r>
              <a:rPr lang="en-BD" dirty="0"/>
              <a:t>No, go to step 8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BD" dirty="0"/>
              <a:t>Is (num % i) == 0:</a:t>
            </a:r>
          </a:p>
          <a:p>
            <a:pPr lvl="1"/>
            <a:r>
              <a:rPr lang="en-BD" dirty="0"/>
              <a:t>Yes, count = 1, go to step 8 </a:t>
            </a:r>
          </a:p>
          <a:p>
            <a:pPr lvl="1"/>
            <a:r>
              <a:rPr lang="en-BD" dirty="0"/>
              <a:t>No,  go to step 6</a:t>
            </a:r>
          </a:p>
          <a:p>
            <a:pPr marL="514350" indent="-514350">
              <a:buSzPct val="101000"/>
              <a:buFont typeface="+mj-lt"/>
              <a:buAutoNum type="arabicPeriod" startAt="6"/>
            </a:pPr>
            <a:r>
              <a:rPr lang="en-BD" dirty="0"/>
              <a:t>Is (count == 0):</a:t>
            </a:r>
          </a:p>
          <a:p>
            <a:pPr lvl="1">
              <a:buSzPct val="101000"/>
            </a:pPr>
            <a:r>
              <a:rPr lang="en-BD" dirty="0"/>
              <a:t>Yes, print prime number</a:t>
            </a:r>
          </a:p>
          <a:p>
            <a:pPr lvl="1">
              <a:buSzPct val="101000"/>
            </a:pPr>
            <a:r>
              <a:rPr lang="en-BD" dirty="0"/>
              <a:t>No, print not prime number</a:t>
            </a:r>
          </a:p>
          <a:p>
            <a:pPr marL="514350" indent="-514350">
              <a:buSzPct val="101000"/>
              <a:buFont typeface="+mj-lt"/>
              <a:buAutoNum type="arabicPeriod" startAt="6"/>
            </a:pPr>
            <a:r>
              <a:rPr lang="en-BD" dirty="0"/>
              <a:t>End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61FBA29-1709-30F4-9956-9179A9F6C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AD856-F1EA-F24C-843E-9812E44E5C17}" type="datetime1">
              <a:rPr lang="en-US" smtClean="0"/>
              <a:t>10/27/24</a:t>
            </a:fld>
            <a:endParaRPr lang="en-BD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C33C218-CC05-96D2-851D-F088EDF00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24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2462896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1F5E0-15ED-5EE9-6DC1-0819EF620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C program to check if a number is co-prime, prime or not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D9C12B-42E5-C257-D01C-976109F00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13" y="1785981"/>
            <a:ext cx="4706296" cy="4706892"/>
          </a:xfrm>
          <a:prstGeom prst="rect">
            <a:avLst/>
          </a:prstGeom>
        </p:spPr>
      </p:pic>
      <p:pic>
        <p:nvPicPr>
          <p:cNvPr id="15" name="Picture 1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071E7982-AD81-7554-CD0D-F6905A72E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509" y="1785981"/>
            <a:ext cx="5316718" cy="4706893"/>
          </a:xfrm>
          <a:prstGeom prst="rect">
            <a:avLst/>
          </a:prstGeom>
        </p:spPr>
      </p:pic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354C7C72-73E5-1E15-17F8-4FE5F881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5A0ED-C5F2-2743-B4AE-AE63E1FF6B0E}" type="datetime1">
              <a:rPr lang="en-US" smtClean="0"/>
              <a:t>10/27/24</a:t>
            </a:fld>
            <a:endParaRPr lang="en-BD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A82D1E4-6A12-A024-BA24-F0B52B9DF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25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6316619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8576E-E29A-68E8-7276-BDA25EB44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C program to check if a number is co-prime, prime or not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898B4B3B-5F96-BAC2-637E-3D36A9D4B1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4900" y="2547144"/>
            <a:ext cx="4902200" cy="2908300"/>
          </a:xfr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4C11526-5E44-7AAB-AF4B-7168D96A7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C7BC-64EF-3145-9571-6F4DA1BB8D42}" type="datetime1">
              <a:rPr lang="en-US" smtClean="0"/>
              <a:t>10/27/24</a:t>
            </a:fld>
            <a:endParaRPr lang="en-B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5B9B5D-5639-3A3F-07D0-88578FF42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26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7338299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AD00F-2B3D-C2A8-2652-1F889FCB5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Strong Number</a:t>
            </a:r>
            <a:endParaRPr lang="en-B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33A0C-565F-54B3-1D9A-22A25F175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Strong Numbers are the numbers whose sum of factorial of digits is equal to the original number.</a:t>
            </a:r>
          </a:p>
          <a:p>
            <a:r>
              <a:rPr lang="en-GB" dirty="0"/>
              <a:t>Example:</a:t>
            </a:r>
          </a:p>
          <a:p>
            <a:pPr marL="1828800" lvl="4" indent="0">
              <a:buNone/>
            </a:pPr>
            <a:r>
              <a:rPr lang="en-GB" sz="2400" dirty="0">
                <a:effectLst/>
              </a:rPr>
              <a:t>n = 145</a:t>
            </a:r>
            <a:br>
              <a:rPr lang="en-GB" sz="2400" dirty="0"/>
            </a:br>
            <a:r>
              <a:rPr lang="en-GB" sz="2400" dirty="0">
                <a:effectLst/>
              </a:rPr>
              <a:t>Sum of digit factorials = 1! + 4! + 5! = 1 + 24 + 120 = 145</a:t>
            </a:r>
          </a:p>
          <a:p>
            <a:pPr marL="1828800" lvl="4" indent="0">
              <a:buNone/>
            </a:pPr>
            <a:r>
              <a:rPr lang="en-GB" sz="2400" dirty="0"/>
              <a:t>So, it is a strong number.</a:t>
            </a:r>
            <a:endParaRPr lang="en-BD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2C299-CF35-E661-6BA9-8C14032F4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9C6D6-504A-DC4F-8818-7837DC2CB901}" type="datetime1">
              <a:rPr lang="en-US" smtClean="0"/>
              <a:t>10/27/24</a:t>
            </a:fld>
            <a:endParaRPr lang="e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FA8BE4-64D6-B7AF-14CB-3DD546BD6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27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5376363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A755F-9C6E-010A-0ED2-CADD819ED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D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AE73E-1793-6438-88A7-071F5B4EA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D" dirty="0"/>
              <a:t>Write a c program to find prime numbers from 1 to 100.</a:t>
            </a:r>
          </a:p>
          <a:p>
            <a:r>
              <a:rPr lang="en-BD" dirty="0"/>
              <a:t>Write a c program to check if a number is strong </a:t>
            </a:r>
            <a:r>
              <a:rPr lang="en-GB" dirty="0"/>
              <a:t>or not</a:t>
            </a:r>
            <a:endParaRPr lang="en-BD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04521-E6FF-BCA9-765A-BEDF92EB1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68A51-BA69-CF4E-B3D9-F898047059F6}" type="datetime1">
              <a:rPr lang="en-US" smtClean="0"/>
              <a:t>10/27/24</a:t>
            </a:fld>
            <a:endParaRPr lang="en-B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9609AB-61BA-C7A1-562A-3D1048D2F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28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37543782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B156EB-3B42-A0E7-F856-C2C3AE172AE4}"/>
              </a:ext>
            </a:extLst>
          </p:cNvPr>
          <p:cNvSpPr txBox="1"/>
          <p:nvPr/>
        </p:nvSpPr>
        <p:spPr>
          <a:xfrm>
            <a:off x="3213463" y="2412274"/>
            <a:ext cx="55793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D" sz="96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38973-137E-E686-0BFC-9AE3DECF8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283C-CBBF-8D49-88E9-33C8045FDCFB}" type="datetime1">
              <a:rPr lang="en-US" smtClean="0"/>
              <a:t>10/27/24</a:t>
            </a:fld>
            <a:endParaRPr lang="en-B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40EA4-3FFC-742D-FACC-12B17FC6F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B918A-40C5-B647-996E-A76884B03A50}" type="slidenum">
              <a:rPr lang="en-BD" smtClean="0"/>
              <a:t>29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918378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736</TotalTime>
  <Words>1279</Words>
  <Application>Microsoft Macintosh PowerPoint</Application>
  <PresentationFormat>Widescreen</PresentationFormat>
  <Paragraphs>306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Aptos</vt:lpstr>
      <vt:lpstr>Aptos Display</vt:lpstr>
      <vt:lpstr>Arial</vt:lpstr>
      <vt:lpstr>Cambria Math</vt:lpstr>
      <vt:lpstr>Helvetica</vt:lpstr>
      <vt:lpstr>Office Theme</vt:lpstr>
      <vt:lpstr>Few Programs with loop</vt:lpstr>
      <vt:lpstr>GCD and LCM</vt:lpstr>
      <vt:lpstr>Flowchart to find GCD and LCM of Two Integers</vt:lpstr>
      <vt:lpstr>Algorithm to find GCD and LCM of Two Integers</vt:lpstr>
      <vt:lpstr>C program to find GCD and LCM of Two Integers</vt:lpstr>
      <vt:lpstr>Flowchart for sum of the digits of an integer </vt:lpstr>
      <vt:lpstr>Algorithm for sum of the digits of an integer </vt:lpstr>
      <vt:lpstr>C program for sum of the digits of an integer </vt:lpstr>
      <vt:lpstr>Flowchart to reverse an integer</vt:lpstr>
      <vt:lpstr>Alogrithm to reverse an integer</vt:lpstr>
      <vt:lpstr>C program to reverse an integer</vt:lpstr>
      <vt:lpstr>Palindrome number</vt:lpstr>
      <vt:lpstr>Flowchart to check if a number is palindrome or not</vt:lpstr>
      <vt:lpstr>Algorithm to check if a number is palindrome or not</vt:lpstr>
      <vt:lpstr>C program to check if a number is palindrome or not</vt:lpstr>
      <vt:lpstr>Flowchart for counting number of a digit in an integer</vt:lpstr>
      <vt:lpstr>Algorithm for counting number of a digit in an integer</vt:lpstr>
      <vt:lpstr>C program for counting number of a digit in an integer</vt:lpstr>
      <vt:lpstr>Armstrong number</vt:lpstr>
      <vt:lpstr>Flowchart to check an integer is armstrong or not.</vt:lpstr>
      <vt:lpstr>Algorithm to check an integer is armstrong or not.</vt:lpstr>
      <vt:lpstr>C program to check if a number is armstrong or not</vt:lpstr>
      <vt:lpstr>Flowchart to check if a number is prime, co-prime or not</vt:lpstr>
      <vt:lpstr>Algorithm to check if a number is co-prime, prime or not</vt:lpstr>
      <vt:lpstr>C program to check if a number is co-prime, prime or not</vt:lpstr>
      <vt:lpstr>C program to check if a number is co-prime, prime or not</vt:lpstr>
      <vt:lpstr>Strong Number</vt:lpstr>
      <vt:lpstr>Exercises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Rakib Mahmud</dc:creator>
  <cp:lastModifiedBy>Rakib Mahmud</cp:lastModifiedBy>
  <cp:revision>3</cp:revision>
  <dcterms:created xsi:type="dcterms:W3CDTF">2024-10-24T17:21:08Z</dcterms:created>
  <dcterms:modified xsi:type="dcterms:W3CDTF">2024-10-26T19:21:31Z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2024-10-25T07:04:53Z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e5b25513-649b-4fb5-9155-a9ebe9987495</vt:lpwstr>
  </property>
  <property fmtid="{D5CDD505-2E9C-101B-9397-08002B2CF9AE}" pid="7" name="MSIP_Label_defa4170-0d19-0005-0004-bc88714345d2_ActionId">
    <vt:lpwstr>504e3ee9-a9be-4a9e-aaf5-b47f10f4fd42</vt:lpwstr>
  </property>
  <property fmtid="{D5CDD505-2E9C-101B-9397-08002B2CF9AE}" pid="8" name="MSIP_Label_defa4170-0d19-0005-0004-bc88714345d2_ContentBits">
    <vt:lpwstr>0</vt:lpwstr>
  </property>
</Properties>
</file>