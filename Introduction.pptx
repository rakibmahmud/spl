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5" r:id="rId10"/>
    <p:sldId id="266" r:id="rId11"/>
    <p:sldId id="264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B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9"/>
    <p:restoredTop sz="94668"/>
  </p:normalViewPr>
  <p:slideViewPr>
    <p:cSldViewPr snapToGrid="0">
      <p:cViewPr varScale="1">
        <p:scale>
          <a:sx n="122" d="100"/>
          <a:sy n="122" d="100"/>
        </p:scale>
        <p:origin x="45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32C15-C488-1A44-82D1-61CA10D79C02}" type="datetimeFigureOut">
              <a:rPr lang="en-BD" smtClean="0"/>
              <a:t>16/1/25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340C92-14A6-CA4A-9178-195735EA8479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080690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340C92-14A6-CA4A-9178-195735EA8479}" type="slidenum">
              <a:rPr lang="en-BD" smtClean="0"/>
              <a:t>6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151669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28223-F54E-E02C-83AA-0B2A4A2AA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A66E3-DCE8-B74A-BF01-33A70D9E7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D8608-F321-A5F9-9BC5-33DE7B86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DEF9-FF11-BA44-853F-0AE300DE63EA}" type="datetime1">
              <a:rPr lang="en-US" smtClean="0"/>
              <a:t>1/16/25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0B97A-5337-FAE3-EEA9-088DCDE32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95DD2-A042-EDD7-89DC-0BC4B3169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07392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A3A25-9B98-E5C2-691D-7D0C1DE16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59615-C960-8B58-AC21-13804C060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08E88-29BC-ADB0-E65D-5864E179F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33818-0ED8-5C40-B903-6C2B0484F3B4}" type="datetime1">
              <a:rPr lang="en-US" smtClean="0"/>
              <a:t>1/16/25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1BF34-FB6F-65DD-9635-1BAC3D94D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2E037-59E6-80E6-903D-C14F3AB98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353664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9A183-9856-9AD8-07A7-85E3307E9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7FA71-39EB-C39A-D047-D1A82792B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4ADF2-49DD-0AAC-6E97-2423C9AA3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C8CF9-4273-3345-BC84-EFC81861F574}" type="datetime1">
              <a:rPr lang="en-US" smtClean="0"/>
              <a:t>1/16/25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863AF-463A-177C-38DE-7843346A5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4AB6D-6197-AEB5-C8C1-89961A1A9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504117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AC005-10AD-533F-AFB5-EF04F9D8E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35D8A-32B8-142D-1C94-D149CE3D23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A8480E-CFB3-8819-9693-23FDB9670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76F40-1CE8-9EB4-912D-7EC9B9DD4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D9ECB-B926-114A-BE59-3C362B31DA69}" type="datetime1">
              <a:rPr lang="en-US" smtClean="0"/>
              <a:t>1/16/25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035D1F-3528-D859-ABEB-7E0AC780F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29F04-C2AB-F4EA-2209-A7A17ECFA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76395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A7119-B1A4-604A-A994-C2BDB2561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40E62-2967-F27E-A14A-35E1C22ED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CD3F89-F071-A773-F7F9-9D17AA3C4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0E004A-969D-2025-D2B0-83D1670CE2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00FDEE-7CE5-F9C3-C05C-14CC4534C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F4F048-FE20-6C3C-63B1-BE33558F8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55A7-D6DD-4343-AD95-F10EEDFA1D8F}" type="datetime1">
              <a:rPr lang="en-US" smtClean="0"/>
              <a:t>1/16/25</a:t>
            </a:fld>
            <a:endParaRPr lang="e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F3146C-D6F4-763F-58A3-57B0DE86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C10675-3D90-6D27-4A7C-340416AFD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332318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5BE35-9379-E771-0224-0A60F629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AE4020-5DD4-6E19-3DC0-B0F77CFCE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B5EA-F220-E543-80B5-83BB31CF2EBE}" type="datetime1">
              <a:rPr lang="en-US" smtClean="0"/>
              <a:t>1/16/25</a:t>
            </a:fld>
            <a:endParaRPr lang="en-B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043D31-C99B-6EE5-13F4-CCBEB6549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06FA45-8053-4A86-7305-951DBE435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872430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503ECC-F87E-B6B1-0F77-DBD4A6D55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BE2FA-AEA5-804A-9A2F-9109F5A4A647}" type="datetime1">
              <a:rPr lang="en-US" smtClean="0"/>
              <a:t>1/16/25</a:t>
            </a:fld>
            <a:endParaRPr lang="en-B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AE70B4-5E7B-AE5B-546B-F026ED109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FC5D7-0E1C-842B-916F-F0054021E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038020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675E7-38B5-31F4-3ABF-D2154CAC6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AD9C2-FF87-1772-C67C-D467F314B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320F00-4BC1-F69A-3562-56BA20A6D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A44F5-0CFF-872A-87CE-B6CBDCE36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4316-0EC7-2644-AF92-492FD27E7B4A}" type="datetime1">
              <a:rPr lang="en-US" smtClean="0"/>
              <a:t>1/16/25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C7D6C-6F2A-11F1-D716-526C17EC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B8055-8F97-6E02-0CFA-BFB926D4A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332720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95047-49B2-F456-6375-601BFCB3F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2223D9-9559-4992-E736-F8A61DEE6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1902C-5325-8183-26B4-415A5F6E01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80F53-C984-0BD5-7301-427A83BCC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C7B31-C3DB-7445-8736-B0F51395BCA6}" type="datetime1">
              <a:rPr lang="en-US" smtClean="0"/>
              <a:t>1/16/25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85934-6216-96DB-ACEA-CC8CFB88F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DBA29-12C9-4E1E-0133-62BB9F964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700376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A7B7F-E264-165B-CAD3-C6271F476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FC09B5-507A-154D-0340-19268552D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89A52-063A-1D28-B323-16EC6D2DD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3372-E7D6-7347-B015-29E9DD7DE131}" type="datetime1">
              <a:rPr lang="en-US" smtClean="0"/>
              <a:t>1/16/25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6F2D2-BE90-4331-053E-F83F86321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222FF-2F6E-67F7-FEB9-7DDE6613B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026733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B771B1-A994-0C23-5711-0BFA8C6E9C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FEEFE-DE44-ECF6-359B-0E0DEE5EC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07BFD-4694-A2ED-AF7F-81AB9B0B0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5ACD5-7409-AA42-B090-539A14F356D6}" type="datetime1">
              <a:rPr lang="en-US" smtClean="0"/>
              <a:t>1/16/25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40BA1-8BF2-C6D7-CE21-BEE74075E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70931-44AE-40C1-4C50-F3C10050D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015375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EEC0CF-47F8-5211-E232-14BD59468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571EC-8FAD-9782-53B9-ADA13E4BB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08033-2F37-ED1D-D3F1-274E9B7E68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BC4AB-5041-FF42-8304-9BE049922E34}" type="datetime1">
              <a:rPr lang="en-US" smtClean="0"/>
              <a:t>1/16/25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6514-6CD2-1DDB-27C0-B313BA9884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A9DD1-53F8-7254-FAD7-9FDBF380E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FF7D7D-0CA8-0647-A1CA-75FCC6C4302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307964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2440D-50BF-8969-E8A2-FCE98A73AF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D" dirty="0"/>
              <a:t>SPL (Introduction)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FCF579-C69D-7ACD-17DE-CDBC4EEC68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BD" dirty="0"/>
              <a:t>Rakib Mahmud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B6300-019C-0E65-FD85-1B67A51E6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A8B8-CF6A-EF42-81EE-64016063D9E8}" type="datetime1">
              <a:rPr lang="en-US" smtClean="0"/>
              <a:t>1/16/25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4003E-F7DA-8E79-CFAA-7E0BBBE87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1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903509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58B74-5F59-EAFF-F3AF-BD145AB0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7CA-F2E2-FEBF-5C98-A4E4F567C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Language is a mode of communication that is used to share ideas, opinions with each other.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FC51E-E237-0545-2AD2-AD980DF9A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FCB8-7DC0-FA4F-8905-4C7EF8B2CE80}" type="datetime1">
              <a:rPr lang="en-US" smtClean="0"/>
              <a:t>1/16/25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E61DC-6B04-CBEB-6F58-5697DD34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2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488688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95391-6D8F-A608-8EC5-1DFCA13D2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Programming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59780-294F-BD80-0AD3-33A25C2DE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A programming language is a computer language that is used by programmers to communicate with computers.</a:t>
            </a:r>
          </a:p>
          <a:p>
            <a:r>
              <a:rPr lang="en-BD" dirty="0"/>
              <a:t>It is a set of instructions written in any specific language ( C, C++, Java, Python) to perform a specific task.</a:t>
            </a:r>
          </a:p>
          <a:p>
            <a:r>
              <a:rPr lang="en-BD" dirty="0"/>
              <a:t>A programming language is manily used to develop desktop applications, web applications and mobile applications.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1AAF9-4697-7BB7-01D3-F0D2AE7A2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04065-FBB4-364C-AA9D-6B30B685D25C}" type="datetime1">
              <a:rPr lang="en-US" smtClean="0"/>
              <a:t>1/16/25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74E8D3-6460-FFC0-0469-5B9903EB5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3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206238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82252-3551-9E32-ABDD-0C5D4E637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Computer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61599-74D0-3078-7B90-4F48C722B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262626"/>
                </a:solidFill>
                <a:effectLst/>
              </a:rPr>
              <a:t>The word computer comes from the word “compute” which means, “to calculate”</a:t>
            </a:r>
          </a:p>
          <a:p>
            <a:r>
              <a:rPr lang="en-GB" dirty="0">
                <a:solidFill>
                  <a:srgbClr val="262626"/>
                </a:solidFill>
                <a:effectLst/>
              </a:rPr>
              <a:t>Thereby, a computer is an electronic device that can perform arithmetic and logical operations at high speed.</a:t>
            </a:r>
          </a:p>
          <a:p>
            <a:endParaRPr lang="en-B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A7790-DB25-AE80-1492-A7DCFC76B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CD964-A3E4-574D-A6F5-55268A13E65A}" type="datetime1">
              <a:rPr lang="en-US" smtClean="0"/>
              <a:t>1/16/25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298369-E51D-A17F-00D5-216F5540D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4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381331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660E9-4FD1-768B-32DC-B5EEC3EEB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computer languages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0A1C7-F413-56F7-45A6-02B4EBA03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Low level language</a:t>
            </a:r>
          </a:p>
          <a:p>
            <a:pPr lvl="1"/>
            <a:r>
              <a:rPr lang="en-BD" dirty="0"/>
              <a:t>Machine Language.</a:t>
            </a:r>
          </a:p>
          <a:p>
            <a:pPr lvl="1"/>
            <a:r>
              <a:rPr lang="en-BD" dirty="0"/>
              <a:t>Assembly language.</a:t>
            </a:r>
          </a:p>
          <a:p>
            <a:r>
              <a:rPr lang="en-BD" dirty="0"/>
              <a:t>High level language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C19A1-DCD2-6F18-602B-E3847F4EA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C491-256E-C240-A4A9-F65E61CD4637}" type="datetime1">
              <a:rPr lang="en-US" smtClean="0"/>
              <a:t>1/16/25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04822-8BF7-9D78-3CE3-2E81C3B01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5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438429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37931-C1E0-E2D8-B06B-0FFA1577C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Machine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C42A3-2D58-28A7-4ECC-C4311BFEC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Only language computer directly understands</a:t>
            </a:r>
          </a:p>
          <a:p>
            <a:pPr lvl="1"/>
            <a:r>
              <a:rPr lang="en-GB" dirty="0"/>
              <a:t>“Natural language” of computer</a:t>
            </a:r>
          </a:p>
          <a:p>
            <a:r>
              <a:rPr lang="en-GB" dirty="0"/>
              <a:t>Defined by hardware design</a:t>
            </a:r>
          </a:p>
          <a:p>
            <a:pPr lvl="1"/>
            <a:r>
              <a:rPr lang="en-GB" dirty="0"/>
              <a:t>Machine-dependent</a:t>
            </a:r>
          </a:p>
          <a:p>
            <a:r>
              <a:rPr lang="en-GB" dirty="0"/>
              <a:t>It is made up of binary bits 0 and 1.</a:t>
            </a:r>
          </a:p>
          <a:p>
            <a:r>
              <a:rPr lang="en-GB" dirty="0"/>
              <a:t>Not understandable by human.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01100101 00001000 (Machine Language)</a:t>
            </a:r>
          </a:p>
          <a:p>
            <a:pPr lvl="1"/>
            <a:r>
              <a:rPr lang="en-GB" dirty="0"/>
              <a:t>   ADD 8   Assembly Language</a:t>
            </a:r>
          </a:p>
          <a:p>
            <a:pPr lvl="1"/>
            <a:endParaRPr lang="en-GB" dirty="0"/>
          </a:p>
          <a:p>
            <a:endParaRPr lang="en-B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738F7-E4E8-EEC7-58CC-3828D1843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1212A-FF89-8446-8903-FE457DA49FB1}" type="datetime1">
              <a:rPr lang="en-US" smtClean="0"/>
              <a:t>1/16/25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2E031-BD5D-15C4-BBBD-15FECBB94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6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723403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0363A-C6C7-95F9-018D-6D1BAE7BD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Assembly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3C0FC-27F6-F4C7-763C-B79F42BFB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00955" cy="4897392"/>
          </a:xfrm>
        </p:spPr>
        <p:txBody>
          <a:bodyPr>
            <a:normAutofit/>
          </a:bodyPr>
          <a:lstStyle/>
          <a:p>
            <a:pPr marL="228600" lvl="2">
              <a:spcBef>
                <a:spcPts val="1000"/>
              </a:spcBef>
            </a:pPr>
            <a:r>
              <a:rPr lang="en-GB" sz="2800" dirty="0"/>
              <a:t>English-like abbreviations representing elementary computer operations </a:t>
            </a:r>
          </a:p>
          <a:p>
            <a:pPr marL="228600" lvl="2">
              <a:spcBef>
                <a:spcPts val="1000"/>
              </a:spcBef>
            </a:pPr>
            <a:r>
              <a:rPr lang="en-GB" sz="2800" dirty="0"/>
              <a:t>Clearer to humans.</a:t>
            </a:r>
          </a:p>
          <a:p>
            <a:pPr marL="228600" lvl="2">
              <a:spcBef>
                <a:spcPts val="1000"/>
              </a:spcBef>
            </a:pPr>
            <a:r>
              <a:rPr lang="en-GB" sz="2800" dirty="0"/>
              <a:t>Incomprehensible to computers</a:t>
            </a:r>
          </a:p>
          <a:p>
            <a:pPr marL="685800" lvl="3">
              <a:spcBef>
                <a:spcPts val="1000"/>
              </a:spcBef>
            </a:pPr>
            <a:r>
              <a:rPr lang="en-GB" sz="2600" dirty="0"/>
              <a:t>Translator programs (assemblers)</a:t>
            </a:r>
          </a:p>
          <a:p>
            <a:pPr marL="685800" lvl="3">
              <a:spcBef>
                <a:spcPts val="1000"/>
              </a:spcBef>
            </a:pPr>
            <a:r>
              <a:rPr lang="en-GB" sz="2600" dirty="0"/>
              <a:t>Convert to machine language</a:t>
            </a:r>
            <a:endParaRPr lang="en-GB" sz="2800" dirty="0"/>
          </a:p>
          <a:p>
            <a:pPr marL="228600" lvl="2">
              <a:spcBef>
                <a:spcPts val="1000"/>
              </a:spcBef>
            </a:pPr>
            <a:r>
              <a:rPr lang="en-GB" sz="2800" dirty="0"/>
              <a:t>Like machine language it is also machine dependent.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01100101 00001000 (Machine Language)</a:t>
            </a:r>
          </a:p>
          <a:p>
            <a:pPr lvl="1"/>
            <a:r>
              <a:rPr lang="en-GB" dirty="0"/>
              <a:t>ADD 8   Assembly Language</a:t>
            </a:r>
          </a:p>
          <a:p>
            <a:pPr marL="228600" lvl="2">
              <a:spcBef>
                <a:spcPts val="1000"/>
              </a:spcBef>
            </a:pPr>
            <a:endParaRPr lang="en-BD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A672B-C048-50E8-AB2B-4FB3D4DCA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AA62-AFA1-BC4E-ADB8-0D46312F22BB}" type="datetime1">
              <a:rPr lang="en-US" smtClean="0"/>
              <a:t>1/16/25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98D451-40B8-6966-0A98-014502404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7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971072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AC7D-F2E6-27B9-A265-540A49222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High level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4F199-B8C0-D809-560C-F39BFF10C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It gives the format close to English Language.</a:t>
            </a:r>
          </a:p>
          <a:p>
            <a:pPr lvl="1"/>
            <a:r>
              <a:rPr lang="en-GB" dirty="0"/>
              <a:t>Easy to read, write, and understand</a:t>
            </a:r>
          </a:p>
          <a:p>
            <a:r>
              <a:rPr lang="en-GB" dirty="0"/>
              <a:t>Single statements accomplish substantial tasks.</a:t>
            </a:r>
          </a:p>
          <a:p>
            <a:pPr lvl="1"/>
            <a:r>
              <a:rPr lang="en-GB" dirty="0"/>
              <a:t>Assembly language requires many instructions to accomplish simple tasks.</a:t>
            </a:r>
          </a:p>
          <a:p>
            <a:r>
              <a:rPr lang="en-GB" dirty="0"/>
              <a:t>It does not depend on machines.</a:t>
            </a:r>
          </a:p>
          <a:p>
            <a:r>
              <a:rPr lang="en-US" sz="2800" dirty="0">
                <a:latin typeface="+mn-lt"/>
                <a:cs typeface="+mn-cs"/>
              </a:rPr>
              <a:t>Translator programs</a:t>
            </a:r>
            <a:endParaRPr lang="en-GB" sz="2800" dirty="0">
              <a:latin typeface="+mn-lt"/>
              <a:cs typeface="+mn-cs"/>
            </a:endParaRPr>
          </a:p>
          <a:p>
            <a:pPr lvl="1"/>
            <a:r>
              <a:rPr lang="en-GB" dirty="0"/>
              <a:t>Compiler .</a:t>
            </a:r>
          </a:p>
          <a:p>
            <a:pPr lvl="1"/>
            <a:r>
              <a:rPr lang="en-GB" dirty="0"/>
              <a:t>Interpreter.</a:t>
            </a:r>
          </a:p>
          <a:p>
            <a:endParaRPr lang="en-B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C7012-AF7E-F83B-7439-7814F2A8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26F0-89D4-4048-BCB1-9A693B585EF1}" type="datetime1">
              <a:rPr lang="en-US" smtClean="0"/>
              <a:t>1/16/25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D14E32-DD99-FA27-6169-6CF15E36C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8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17106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4059F-A847-1D1A-6D33-A20E9605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High level language (Cont’d)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529992-BFA7-D066-3239-7AA6EAA06981}"/>
              </a:ext>
            </a:extLst>
          </p:cNvPr>
          <p:cNvSpPr/>
          <p:nvPr/>
        </p:nvSpPr>
        <p:spPr>
          <a:xfrm>
            <a:off x="2712027" y="2366456"/>
            <a:ext cx="1267691" cy="3948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CPU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E0A86B-83C9-09A6-1355-4155E3E4FB87}"/>
              </a:ext>
            </a:extLst>
          </p:cNvPr>
          <p:cNvSpPr/>
          <p:nvPr/>
        </p:nvSpPr>
        <p:spPr>
          <a:xfrm>
            <a:off x="7301346" y="2389909"/>
            <a:ext cx="1267691" cy="3948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CPU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D61713-14DE-AE89-3358-59B40EC2429B}"/>
              </a:ext>
            </a:extLst>
          </p:cNvPr>
          <p:cNvSpPr/>
          <p:nvPr/>
        </p:nvSpPr>
        <p:spPr>
          <a:xfrm>
            <a:off x="2000250" y="3256829"/>
            <a:ext cx="2691245" cy="10984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CBB82E-2CC2-C013-6607-406BB3E95DC9}"/>
              </a:ext>
            </a:extLst>
          </p:cNvPr>
          <p:cNvSpPr/>
          <p:nvPr/>
        </p:nvSpPr>
        <p:spPr>
          <a:xfrm>
            <a:off x="6589568" y="3253943"/>
            <a:ext cx="2691245" cy="10984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B05FA4CA-8AB2-B0AC-DC4C-0114CC7498F2}"/>
              </a:ext>
            </a:extLst>
          </p:cNvPr>
          <p:cNvSpPr/>
          <p:nvPr/>
        </p:nvSpPr>
        <p:spPr>
          <a:xfrm>
            <a:off x="2649682" y="4925291"/>
            <a:ext cx="1517073" cy="1340427"/>
          </a:xfrm>
          <a:prstGeom prst="ca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              N</a:t>
            </a:r>
            <a:r>
              <a:rPr lang="en-BD" sz="1400" dirty="0"/>
              <a:t>ew.js</a:t>
            </a:r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3AED1D65-BC16-5E04-99D6-0E6374972198}"/>
              </a:ext>
            </a:extLst>
          </p:cNvPr>
          <p:cNvSpPr/>
          <p:nvPr/>
        </p:nvSpPr>
        <p:spPr>
          <a:xfrm>
            <a:off x="7176653" y="4851259"/>
            <a:ext cx="1517073" cy="1340427"/>
          </a:xfrm>
          <a:prstGeom prst="ca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 dirty="0"/>
          </a:p>
          <a:p>
            <a:pPr algn="ctr"/>
            <a:endParaRPr lang="en-BD" dirty="0"/>
          </a:p>
          <a:p>
            <a:pPr algn="ctr"/>
            <a:endParaRPr lang="en-BD" dirty="0"/>
          </a:p>
        </p:txBody>
      </p:sp>
      <p:sp>
        <p:nvSpPr>
          <p:cNvPr id="10" name="Snip Single Corner of Rectangle 9">
            <a:extLst>
              <a:ext uri="{FF2B5EF4-FFF2-40B4-BE49-F238E27FC236}">
                <a16:creationId xmlns:a16="http://schemas.microsoft.com/office/drawing/2014/main" id="{712F6917-1580-C1AF-8F54-34DD045E549C}"/>
              </a:ext>
            </a:extLst>
          </p:cNvPr>
          <p:cNvSpPr/>
          <p:nvPr/>
        </p:nvSpPr>
        <p:spPr>
          <a:xfrm>
            <a:off x="2930236" y="5521472"/>
            <a:ext cx="415636" cy="401346"/>
          </a:xfrm>
          <a:prstGeom prst="snip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11" name="Snip Single Corner of Rectangle 10">
            <a:extLst>
              <a:ext uri="{FF2B5EF4-FFF2-40B4-BE49-F238E27FC236}">
                <a16:creationId xmlns:a16="http://schemas.microsoft.com/office/drawing/2014/main" id="{0BC0855E-0F01-2E90-3EF3-5EDDA52B5EA0}"/>
              </a:ext>
            </a:extLst>
          </p:cNvPr>
          <p:cNvSpPr/>
          <p:nvPr/>
        </p:nvSpPr>
        <p:spPr>
          <a:xfrm>
            <a:off x="7406210" y="5368853"/>
            <a:ext cx="415636" cy="401346"/>
          </a:xfrm>
          <a:prstGeom prst="snip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232F6D5-B9D7-CF2F-DF47-31E5FC33B0CB}"/>
              </a:ext>
            </a:extLst>
          </p:cNvPr>
          <p:cNvSpPr/>
          <p:nvPr/>
        </p:nvSpPr>
        <p:spPr>
          <a:xfrm>
            <a:off x="2467840" y="3512200"/>
            <a:ext cx="1756064" cy="58189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Interpreter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93E777-C156-1928-E5D3-1F73E7A034BC}"/>
              </a:ext>
            </a:extLst>
          </p:cNvPr>
          <p:cNvSpPr/>
          <p:nvPr/>
        </p:nvSpPr>
        <p:spPr>
          <a:xfrm>
            <a:off x="7233802" y="3458009"/>
            <a:ext cx="1577689" cy="58189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Compiler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147EA4-728B-6052-5401-813E9426F6A1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3345873" y="2761311"/>
            <a:ext cx="0" cy="4955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nip Single Corner of Rectangle 14">
            <a:extLst>
              <a:ext uri="{FF2B5EF4-FFF2-40B4-BE49-F238E27FC236}">
                <a16:creationId xmlns:a16="http://schemas.microsoft.com/office/drawing/2014/main" id="{D669EE59-6D3A-9A27-3218-FD1193FA0FCF}"/>
              </a:ext>
            </a:extLst>
          </p:cNvPr>
          <p:cNvSpPr/>
          <p:nvPr/>
        </p:nvSpPr>
        <p:spPr>
          <a:xfrm>
            <a:off x="8015901" y="5375578"/>
            <a:ext cx="415636" cy="401346"/>
          </a:xfrm>
          <a:prstGeom prst="snip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37E29F-C140-FFD5-33DB-B7DEE15ED9AB}"/>
              </a:ext>
            </a:extLst>
          </p:cNvPr>
          <p:cNvSpPr txBox="1"/>
          <p:nvPr/>
        </p:nvSpPr>
        <p:spPr>
          <a:xfrm>
            <a:off x="7212155" y="5748577"/>
            <a:ext cx="665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1400" dirty="0"/>
              <a:t>New.c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D04B2E-522B-5F27-FDC3-B6C967C0DA66}"/>
              </a:ext>
            </a:extLst>
          </p:cNvPr>
          <p:cNvSpPr txBox="1"/>
          <p:nvPr/>
        </p:nvSpPr>
        <p:spPr>
          <a:xfrm>
            <a:off x="7880559" y="5770199"/>
            <a:ext cx="834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1400" dirty="0"/>
              <a:t>New.exe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E13717C-3D26-697F-C36E-B8579F8FDB81}"/>
              </a:ext>
            </a:extLst>
          </p:cNvPr>
          <p:cNvCxnSpPr/>
          <p:nvPr/>
        </p:nvCxnSpPr>
        <p:spPr>
          <a:xfrm>
            <a:off x="3345872" y="4355741"/>
            <a:ext cx="0" cy="4955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9D20ECB-5062-FF4A-624F-DF9DA4498079}"/>
              </a:ext>
            </a:extLst>
          </p:cNvPr>
          <p:cNvCxnSpPr/>
          <p:nvPr/>
        </p:nvCxnSpPr>
        <p:spPr>
          <a:xfrm>
            <a:off x="7935189" y="2784764"/>
            <a:ext cx="0" cy="4955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BDF1337-1440-DF5E-3B9C-783D3DDAFD8D}"/>
              </a:ext>
            </a:extLst>
          </p:cNvPr>
          <p:cNvCxnSpPr/>
          <p:nvPr/>
        </p:nvCxnSpPr>
        <p:spPr>
          <a:xfrm>
            <a:off x="7874323" y="4352349"/>
            <a:ext cx="0" cy="4955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FDCC11F-638B-6F15-6FDA-9234D07A4868}"/>
              </a:ext>
            </a:extLst>
          </p:cNvPr>
          <p:cNvSpPr txBox="1"/>
          <p:nvPr/>
        </p:nvSpPr>
        <p:spPr>
          <a:xfrm>
            <a:off x="9653155" y="3553691"/>
            <a:ext cx="1531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Main Memory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EDC697-5A6A-76C0-6D05-A2D814B3121C}"/>
              </a:ext>
            </a:extLst>
          </p:cNvPr>
          <p:cNvSpPr txBox="1"/>
          <p:nvPr/>
        </p:nvSpPr>
        <p:spPr>
          <a:xfrm>
            <a:off x="9040091" y="5351318"/>
            <a:ext cx="1719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Hard Disk Drive</a:t>
            </a: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D08C9E50-6F65-8C40-AF9C-DAF1FD345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47718-C304-304E-A512-B351506798D2}" type="datetime1">
              <a:rPr lang="en-US" smtClean="0"/>
              <a:t>1/16/25</a:t>
            </a:fld>
            <a:endParaRPr lang="en-BD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0EAF70E-3BE8-F36E-E434-98B26328D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9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604383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DBE1-C111-9556-F656-B9F6F3EF8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High level language (Cont’d)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5E0FDC85-46B6-2054-EF4D-3F1CB2CDDF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7993397"/>
              </p:ext>
            </p:extLst>
          </p:nvPr>
        </p:nvGraphicFramePr>
        <p:xfrm>
          <a:off x="789709" y="1825625"/>
          <a:ext cx="10564091" cy="32105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306291">
                  <a:extLst>
                    <a:ext uri="{9D8B030D-6E8A-4147-A177-3AD203B41FA5}">
                      <a16:colId xmlns:a16="http://schemas.microsoft.com/office/drawing/2014/main" val="24855352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18259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BD" sz="1800" dirty="0"/>
                        <a:t>Compiler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D" sz="1800" dirty="0"/>
                        <a:t>Interpreter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784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BD" sz="1800" dirty="0"/>
                        <a:t>Compiler reads the full program.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D" sz="1800" dirty="0"/>
                        <a:t>Interpreter reads line by line.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523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BD" sz="1800" dirty="0"/>
                        <a:t>It generates .exe file.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D" sz="1800" dirty="0"/>
                        <a:t>It doen’t generate .exe file.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194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base"/>
                      <a:r>
                        <a:rPr lang="en-GB" sz="1800" b="0" dirty="0">
                          <a:effectLst/>
                        </a:rPr>
                        <a:t>Compiled codes run faster than Interpreter. So, it required less time.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en-GB" sz="1800" b="0" dirty="0">
                          <a:effectLst/>
                        </a:rPr>
                        <a:t>Interpreted codes run slower than Compiler. So, it required more time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741996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base"/>
                      <a:r>
                        <a:rPr lang="en-GB" sz="1800" b="0" dirty="0">
                          <a:effectLst/>
                        </a:rPr>
                        <a:t>It does not require source code for later execution.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en-GB" sz="1800" b="0" dirty="0">
                          <a:effectLst/>
                        </a:rPr>
                        <a:t>It requires source code for later execution.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9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BD" sz="1800" dirty="0"/>
                        <a:t>It takes more space.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D" sz="1800" dirty="0"/>
                        <a:t>It takes less space.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498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BD" sz="1800" dirty="0"/>
                        <a:t>Debugging is difficult here.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D" sz="1800" dirty="0"/>
                        <a:t>Debugging is easy here.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098372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49794-5280-BB40-6FD1-4A7404BD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79957-77E1-104D-883B-E7AC3E96826D}" type="datetime1">
              <a:rPr lang="en-US" smtClean="0"/>
              <a:t>1/16/25</a:t>
            </a:fld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2ADEF-F0E3-64EF-E178-83761D8A6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10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162614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26B6D-EBC6-65AC-F860-25F988A70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High level language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73E05-97AC-C3CA-EF04-6B54A8FF5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Types of high level languages:</a:t>
            </a:r>
          </a:p>
          <a:p>
            <a:pPr lvl="1"/>
            <a:r>
              <a:rPr lang="en-BD" dirty="0"/>
              <a:t>Structured programming language</a:t>
            </a:r>
          </a:p>
          <a:p>
            <a:pPr lvl="2"/>
            <a:r>
              <a:rPr lang="en-BD" dirty="0"/>
              <a:t>Example: C, Pascal etc.</a:t>
            </a:r>
          </a:p>
          <a:p>
            <a:pPr lvl="1"/>
            <a:r>
              <a:rPr lang="en-BD" dirty="0"/>
              <a:t>Object oriented programming language</a:t>
            </a:r>
          </a:p>
          <a:p>
            <a:pPr lvl="2"/>
            <a:r>
              <a:rPr lang="en-BD" dirty="0"/>
              <a:t>Example: C++, Java, Python etc.</a:t>
            </a:r>
          </a:p>
          <a:p>
            <a:pPr lvl="1"/>
            <a:r>
              <a:rPr lang="en-BD" dirty="0"/>
              <a:t>Visual Programming Language etc.</a:t>
            </a:r>
          </a:p>
          <a:p>
            <a:pPr lvl="2"/>
            <a:r>
              <a:rPr lang="en-BD" dirty="0"/>
              <a:t>Example: Scratch, LabView etc.</a:t>
            </a:r>
          </a:p>
          <a:p>
            <a:pPr lvl="1"/>
            <a:endParaRPr lang="en-B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2D3DE-ECF0-7337-71D7-22CFF9985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4999C-4AC4-E140-88BC-087B67ACBC17}" type="datetime1">
              <a:rPr lang="en-US" smtClean="0"/>
              <a:t>1/16/25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405E3A-9015-AB5C-D433-AE154E1FB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11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988980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057A1-4EBA-5D94-C46D-2BE7A3E78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Structured programming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6D09E-FB22-0206-BD2F-5E19A88D2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GB" dirty="0"/>
              <a:t>A structured programming language organizes code into smaller, reusable, and manageable blocks or modules, making programs easier to write, understand, and maintain. </a:t>
            </a:r>
          </a:p>
          <a:p>
            <a:r>
              <a:rPr lang="en-GB" dirty="0"/>
              <a:t>It follows a top-down approach, focusing on breaking a program into smaller sub-tasks or functions.</a:t>
            </a:r>
            <a:endParaRPr lang="en-BD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9EB6232E-ECA3-3FB4-9447-738DAE3B8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231" y="3898105"/>
            <a:ext cx="8491538" cy="253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BE912-81E7-7055-16A5-A6C3AA282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06894-5C27-3342-A1B2-ACF5BE0A1D1E}" type="datetime1">
              <a:rPr lang="en-US" smtClean="0"/>
              <a:t>1/16/25</a:t>
            </a:fld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AA3B4-E168-655F-63EE-9807CD9D1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12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08590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B712B-0244-A8C6-B7BB-F35B7B17F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the Rules for Writing a Structured Program?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69DD9-EADF-32E8-CEC1-75B370E05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3 basic structures</a:t>
            </a:r>
          </a:p>
          <a:p>
            <a:pPr lvl="1"/>
            <a:r>
              <a:rPr lang="en-GB" dirty="0"/>
              <a:t>Sequence (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are executed in sequence with no instruction changing the order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dirty="0"/>
          </a:p>
          <a:p>
            <a:pPr lvl="1"/>
            <a:r>
              <a:rPr lang="en-GB" dirty="0"/>
              <a:t>Decision (</a:t>
            </a:r>
            <a:r>
              <a:rPr lang="en-GB" dirty="0">
                <a:solidFill>
                  <a:srgbClr val="FF0000"/>
                </a:solidFill>
              </a:rPr>
              <a:t>selection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Repetition (</a:t>
            </a:r>
            <a:r>
              <a:rPr lang="en-GB" dirty="0">
                <a:solidFill>
                  <a:srgbClr val="FF0000"/>
                </a:solidFill>
              </a:rPr>
              <a:t>looping or iteration</a:t>
            </a:r>
            <a:r>
              <a:rPr lang="en-GB" dirty="0"/>
              <a:t>)</a:t>
            </a:r>
          </a:p>
          <a:p>
            <a:endParaRPr lang="en-B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D8704-CE21-015E-A080-3C802D161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4A870-8219-8A43-B5FA-B2E861CC0CD8}" type="datetime1">
              <a:rPr lang="en-US" smtClean="0"/>
              <a:t>1/16/25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0774AB-1840-1E2E-34A8-EBF5CC41F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13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599890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F811B-36A0-526E-8480-273CF86C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D" dirty="0"/>
              <a:t>Why C is called Structured programming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3FA66-066D-1043-BA91-C9F878056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30989" cy="4351338"/>
          </a:xfrm>
        </p:spPr>
        <p:txBody>
          <a:bodyPr/>
          <a:lstStyle/>
          <a:p>
            <a:r>
              <a:rPr lang="en-BD" dirty="0"/>
              <a:t>Because while solving large and complex problem, C programming languages divides the problem into smaller modules called functions.</a:t>
            </a:r>
          </a:p>
          <a:p>
            <a:r>
              <a:rPr lang="en-BD" dirty="0"/>
              <a:t>Each of these functions has specific job.</a:t>
            </a:r>
          </a:p>
          <a:p>
            <a:r>
              <a:rPr lang="en-BD" dirty="0"/>
              <a:t>It is executed when main program calls it.</a:t>
            </a:r>
          </a:p>
          <a:p>
            <a:r>
              <a:rPr lang="en-BD" dirty="0"/>
              <a:t>Example:</a:t>
            </a:r>
          </a:p>
          <a:p>
            <a:pPr lvl="1"/>
            <a:r>
              <a:rPr lang="en-BD" dirty="0"/>
              <a:t>Matrix subtraction program, which is divided into these sub procedures - input matrix, display matrix, subtract matrix, save result matrix to file.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F9BC6-3E14-5210-7CA7-9747D4470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88E46-2029-7D45-A66A-C2B8AFF3AB4E}" type="datetime1">
              <a:rPr lang="en-US" smtClean="0"/>
              <a:t>1/16/25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A1E05-74FB-978B-A771-383228FBC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14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566257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3E5EC-9B3D-091B-CE53-2104E4EB6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 -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FCFA4-662E-3CB7-6B2C-AEF40066E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Developed between 1969 and 1973.</a:t>
            </a:r>
          </a:p>
          <a:p>
            <a:pPr eaLnBrk="1" hangingPunct="1"/>
            <a:r>
              <a:rPr lang="en-US" altLang="en-US" dirty="0"/>
              <a:t>Due mostly to </a:t>
            </a:r>
            <a:r>
              <a:rPr lang="en-US" altLang="en-US" dirty="0">
                <a:solidFill>
                  <a:srgbClr val="FF0000"/>
                </a:solidFill>
              </a:rPr>
              <a:t>Dennis Ritchie</a:t>
            </a:r>
          </a:p>
          <a:p>
            <a:endParaRPr lang="en-BD" dirty="0"/>
          </a:p>
        </p:txBody>
      </p:sp>
      <p:pic>
        <p:nvPicPr>
          <p:cNvPr id="4" name="Picture 5" descr="DMR picture">
            <a:extLst>
              <a:ext uri="{FF2B5EF4-FFF2-40B4-BE49-F238E27FC236}">
                <a16:creationId xmlns:a16="http://schemas.microsoft.com/office/drawing/2014/main" id="{1385EC83-9629-193A-E551-274CBF7D7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155" y="3185160"/>
            <a:ext cx="1961305" cy="2275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F1C46-857D-E16D-FD6D-F0C759F8C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42EB0-C5F4-9B4B-BCD5-0AA206956AE8}" type="datetime1">
              <a:rPr lang="en-US" smtClean="0"/>
              <a:t>1/16/25</a:t>
            </a:fld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DA02E-8318-7607-CC37-C48704308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15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050184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A51DA-E3CA-6DAA-136D-5227E0254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Structure of a C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8E3A7-295A-5D73-CD86-227BFDFD7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There are 6 basic sections. They are:</a:t>
            </a:r>
          </a:p>
          <a:p>
            <a:pPr lvl="1"/>
            <a:r>
              <a:rPr lang="en-GB" dirty="0"/>
              <a:t>Document section.</a:t>
            </a:r>
          </a:p>
          <a:p>
            <a:pPr lvl="1"/>
            <a:r>
              <a:rPr lang="en-GB" dirty="0"/>
              <a:t>Link section.</a:t>
            </a:r>
          </a:p>
          <a:p>
            <a:pPr lvl="1"/>
            <a:r>
              <a:rPr lang="en-GB" dirty="0"/>
              <a:t>Definition section.</a:t>
            </a:r>
          </a:p>
          <a:p>
            <a:pPr lvl="1"/>
            <a:r>
              <a:rPr lang="en-GB" dirty="0"/>
              <a:t>Global declaration section</a:t>
            </a:r>
          </a:p>
          <a:p>
            <a:pPr lvl="1"/>
            <a:r>
              <a:rPr lang="en-GB" dirty="0"/>
              <a:t>Main function</a:t>
            </a:r>
          </a:p>
          <a:p>
            <a:pPr lvl="1"/>
            <a:r>
              <a:rPr lang="en-GB" dirty="0"/>
              <a:t>Sub programs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423DE-446B-E1D7-1013-CBBB693F5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C502F-5A70-5A49-A86C-44122AE94A24}" type="datetime1">
              <a:rPr lang="en-US" smtClean="0"/>
              <a:t>1/16/25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6D8D5-3A02-5FBC-7287-1DA47D10B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16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666201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DF264-6EF1-0215-AD59-1AC2AC93A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Document Section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303D9-5EFD-AF90-CAF5-83BBBF57E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37468"/>
          </a:xfrm>
        </p:spPr>
        <p:txBody>
          <a:bodyPr>
            <a:normAutofit/>
          </a:bodyPr>
          <a:lstStyle/>
          <a:p>
            <a:r>
              <a:rPr lang="en-GB" dirty="0"/>
              <a:t>This section consists of the description of the program, the name of the program, and the creation date and time of the program.</a:t>
            </a:r>
          </a:p>
          <a:p>
            <a:r>
              <a:rPr lang="en-GB" dirty="0"/>
              <a:t>It is specified in the form of comments.</a:t>
            </a:r>
          </a:p>
          <a:p>
            <a:r>
              <a:rPr lang="en-GB" dirty="0"/>
              <a:t>For single line comment:</a:t>
            </a:r>
          </a:p>
          <a:p>
            <a:endParaRPr lang="en-GB" dirty="0"/>
          </a:p>
          <a:p>
            <a:r>
              <a:rPr lang="en-GB" dirty="0"/>
              <a:t>For multiple line comment: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Basically, it gives an overview to the reader of the program.</a:t>
            </a:r>
          </a:p>
          <a:p>
            <a:endParaRPr lang="en-B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E75821-3F15-3919-36FE-42492309B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385" y="3738434"/>
            <a:ext cx="7772400" cy="525719"/>
          </a:xfrm>
          <a:prstGeom prst="rect">
            <a:avLst/>
          </a:prstGeom>
        </p:spPr>
      </p:pic>
      <p:pic>
        <p:nvPicPr>
          <p:cNvPr id="7" name="Picture 6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56BA5204-E10C-2EDB-E2A4-ACFCAE59D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384" y="4735922"/>
            <a:ext cx="7772400" cy="1029576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603D440-3C7F-FCBE-4E00-33B689013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2D4EA-5253-444D-9F9B-7BF709DC7F39}" type="datetime1">
              <a:rPr lang="en-US" smtClean="0"/>
              <a:t>1/16/25</a:t>
            </a:fld>
            <a:endParaRPr lang="en-B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06800-A335-7B3C-8C27-3A838FC5E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17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192076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98B91-9B95-97FC-3669-B4B1E02ED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Link Section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01769-5782-542E-CE55-49ECA7546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cs typeface="Times New Roman" panose="02020603050405020304" pitchFamily="18" charset="0"/>
              </a:rPr>
              <a:t>All the header files of the program will be declared in this section of the program.</a:t>
            </a:r>
          </a:p>
          <a:p>
            <a:r>
              <a:rPr lang="en-GB" dirty="0"/>
              <a:t>Header files help us to access other’s improved code into our code. </a:t>
            </a:r>
          </a:p>
          <a:p>
            <a:r>
              <a:rPr lang="en-GB" dirty="0"/>
              <a:t>A copy of these multiple files is inserted into our program before the process of compilation. 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#include&lt;</a:t>
            </a:r>
            <a:r>
              <a:rPr lang="en-GB" dirty="0" err="1"/>
              <a:t>stdio.h</a:t>
            </a:r>
            <a:r>
              <a:rPr lang="en-GB" dirty="0"/>
              <a:t>&gt;</a:t>
            </a:r>
          </a:p>
          <a:p>
            <a:pPr lvl="1"/>
            <a:r>
              <a:rPr lang="en-GB" dirty="0"/>
              <a:t>#include&lt;</a:t>
            </a:r>
            <a:r>
              <a:rPr lang="en-GB" dirty="0" err="1"/>
              <a:t>math.h</a:t>
            </a:r>
            <a:r>
              <a:rPr lang="en-GB" dirty="0"/>
              <a:t>&gt;</a:t>
            </a:r>
          </a:p>
          <a:p>
            <a:pPr marL="457200" lvl="1" indent="0">
              <a:buNone/>
            </a:pPr>
            <a:endParaRPr lang="en-B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81B1E-8957-9CE4-09CF-9F15526FD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504C-234E-C741-9291-A6F8B2C8EC42}" type="datetime1">
              <a:rPr lang="en-US" smtClean="0"/>
              <a:t>1/16/25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50817D-30F2-634B-DDF9-BC7DEA86D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18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76583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6DBA9-DCE0-41D3-53DA-C728ABA6B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Definition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573E1-1895-3C72-7EEF-BE53C7AEE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All the symbolic constants are defined here which are named as macros.</a:t>
            </a:r>
          </a:p>
          <a:p>
            <a:r>
              <a:rPr lang="en-GB" dirty="0"/>
              <a:t>The macros are the identifiers defined by # define which are replaced by their value before compilation.</a:t>
            </a:r>
          </a:p>
          <a:p>
            <a:r>
              <a:rPr lang="en-GB" dirty="0"/>
              <a:t>Syntax:</a:t>
            </a:r>
          </a:p>
          <a:p>
            <a:endParaRPr lang="en-GB" dirty="0"/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#define pi 3.1416</a:t>
            </a:r>
          </a:p>
          <a:p>
            <a:pPr lvl="1"/>
            <a:endParaRPr lang="en-BD" dirty="0"/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E546688A-14D8-354A-CB97-B31A6D53B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133" y="4001294"/>
            <a:ext cx="3302000" cy="4572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914B6E8-2B15-36C8-8A7E-CF6AB5883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29454-E563-C549-BF4C-7D2AD139FE3E}" type="datetime1">
              <a:rPr lang="en-US" smtClean="0"/>
              <a:t>1/16/25</a:t>
            </a:fld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39DA3-5E63-915C-F1DB-280C8BDFC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19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376374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F429F-461D-2CF9-A321-38B1A4B6C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Global Declaration Section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073E9-D207-5F03-0855-38BA8C487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It will be defined before the main function.</a:t>
            </a:r>
          </a:p>
          <a:p>
            <a:r>
              <a:rPr lang="en-GB" dirty="0"/>
              <a:t>Contains global variables, function declaration.</a:t>
            </a:r>
          </a:p>
          <a:p>
            <a:r>
              <a:rPr lang="en-GB" dirty="0"/>
              <a:t>These can be used anywhere in the program. </a:t>
            </a:r>
            <a:endParaRPr lang="en-B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95C63E-606F-714A-F066-2A25B1A1A9ED}"/>
              </a:ext>
            </a:extLst>
          </p:cNvPr>
          <p:cNvSpPr txBox="1"/>
          <p:nvPr/>
        </p:nvSpPr>
        <p:spPr>
          <a:xfrm>
            <a:off x="4693920" y="4249782"/>
            <a:ext cx="156485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i</a:t>
            </a:r>
            <a:r>
              <a:rPr lang="en-BD" sz="2400" dirty="0"/>
              <a:t>nt x,y;</a:t>
            </a:r>
          </a:p>
          <a:p>
            <a:r>
              <a:rPr lang="en-GB" sz="2400" dirty="0" err="1"/>
              <a:t>i</a:t>
            </a:r>
            <a:r>
              <a:rPr lang="en-BD" sz="2400" dirty="0"/>
              <a:t>nt main( ) </a:t>
            </a:r>
          </a:p>
          <a:p>
            <a:r>
              <a:rPr lang="en-BD" sz="2400" dirty="0"/>
              <a:t>{</a:t>
            </a:r>
          </a:p>
          <a:p>
            <a:r>
              <a:rPr lang="en-BD" sz="2400" dirty="0"/>
              <a:t>    int z;</a:t>
            </a:r>
          </a:p>
          <a:p>
            <a:r>
              <a:rPr lang="en-BD" sz="2400" dirty="0"/>
              <a:t>}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AC7E2-8167-A8EB-74CE-FB3016209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31AEE-BC35-5242-B1A7-ADF545CFF925}" type="datetime1">
              <a:rPr lang="en-US" smtClean="0"/>
              <a:t>1/16/25</a:t>
            </a:fld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E55DB-5855-EF8C-2EBA-516623525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20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42423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23A99-4198-4094-3386-48EC811C4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Main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7F481-552E-9A66-FE28-EFF689E59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It has two parts.</a:t>
            </a:r>
          </a:p>
          <a:p>
            <a:pPr lvl="1"/>
            <a:r>
              <a:rPr lang="en-BD" dirty="0"/>
              <a:t>Decleration section</a:t>
            </a:r>
          </a:p>
          <a:p>
            <a:pPr lvl="1"/>
            <a:r>
              <a:rPr lang="en-BD" dirty="0"/>
              <a:t>Execution section</a:t>
            </a:r>
          </a:p>
          <a:p>
            <a:pPr lvl="1"/>
            <a:endParaRPr lang="en-BD" dirty="0"/>
          </a:p>
        </p:txBody>
      </p:sp>
      <p:pic>
        <p:nvPicPr>
          <p:cNvPr id="6" name="Picture 5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453F2457-AF6A-610B-F014-9F72977DC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81" y="3428999"/>
            <a:ext cx="5879432" cy="2747964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81AD6D01-7872-52DF-0789-AF2A04564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456" y="3497933"/>
            <a:ext cx="1993900" cy="1257300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A3380F2-CB2C-9659-2B67-BA396A125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E6AAF-3F8C-D544-A955-0BB5B6E007CD}" type="datetime1">
              <a:rPr lang="en-US" smtClean="0"/>
              <a:t>1/16/25</a:t>
            </a:fld>
            <a:endParaRPr lang="en-BD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6316BAE-BC1F-4126-E8B2-5CCBCBD9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21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968321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79C00-BD53-31B0-76E6-716410D45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Sub Programs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D0F5A-2DAA-33F7-3C49-87CCB5495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User-defined functions are called in this section of the program.</a:t>
            </a:r>
          </a:p>
          <a:p>
            <a:r>
              <a:rPr lang="en-GB" dirty="0"/>
              <a:t>These are specified as per the requirements of the programmer. </a:t>
            </a:r>
          </a:p>
          <a:p>
            <a:r>
              <a:rPr lang="en-GB" dirty="0"/>
              <a:t>Example:</a:t>
            </a:r>
          </a:p>
          <a:p>
            <a:endParaRPr lang="en-BD" dirty="0"/>
          </a:p>
        </p:txBody>
      </p:sp>
      <p:pic>
        <p:nvPicPr>
          <p:cNvPr id="5" name="Picture 4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392E54ED-B937-F112-BB0C-AFEA30456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806" y="3503104"/>
            <a:ext cx="3422388" cy="2105844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3BFFF2-8AD0-3F3E-37B0-655904339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1C97D-095A-694E-8823-95D187CB6DB6}" type="datetime1">
              <a:rPr lang="en-US" smtClean="0"/>
              <a:t>1/16/25</a:t>
            </a:fld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A3854-A10C-B483-5985-08A1D0E2B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22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509511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378E1-DC8E-F0A9-F270-C48AAFCC8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 of C Program with example</a:t>
            </a:r>
            <a:endParaRPr lang="en-BD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1527D164-AECC-F24B-FEA1-A114FA9955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8130" y="1690687"/>
            <a:ext cx="5137870" cy="4210491"/>
          </a:xfrm>
        </p:spPr>
      </p:pic>
      <p:pic>
        <p:nvPicPr>
          <p:cNvPr id="7" name="Picture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0234F21-B23D-7DAA-8F4F-D55832B50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121" y="1690686"/>
            <a:ext cx="5421264" cy="4210490"/>
          </a:xfrm>
          <a:prstGeom prst="rect">
            <a:avLst/>
          </a:prstGeom>
        </p:spPr>
      </p:pic>
      <p:pic>
        <p:nvPicPr>
          <p:cNvPr id="9" name="Picture 8" descr="A close-up of a computer screen&#10;&#10;Description automatically generated">
            <a:extLst>
              <a:ext uri="{FF2B5EF4-FFF2-40B4-BE49-F238E27FC236}">
                <a16:creationId xmlns:a16="http://schemas.microsoft.com/office/drawing/2014/main" id="{5291DE8D-2B21-B974-84F4-B5AF8A5BD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5690" y="1690684"/>
            <a:ext cx="2048039" cy="1325562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D5D8E8C-A113-2039-F8E5-53B5AD248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C3CF-6625-AF45-A397-B2CD2204CEA3}" type="datetime1">
              <a:rPr lang="en-US" smtClean="0"/>
              <a:t>1/16/25</a:t>
            </a:fld>
            <a:endParaRPr lang="en-BD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673577C-2726-E944-14B1-5C124A82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23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3766544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9A94E-90C0-9979-D827-B1DD79794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Some Key Terms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5E146-4F77-E5E9-443D-A0DB0234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Source Program</a:t>
            </a:r>
          </a:p>
          <a:p>
            <a:pPr lvl="1"/>
            <a:r>
              <a:rPr lang="en-GB" dirty="0"/>
              <a:t>printable/Readable Program file</a:t>
            </a:r>
          </a:p>
          <a:p>
            <a:r>
              <a:rPr lang="en-GB" dirty="0"/>
              <a:t>Object Program</a:t>
            </a:r>
          </a:p>
          <a:p>
            <a:pPr lvl="1"/>
            <a:r>
              <a:rPr lang="en-GB" dirty="0"/>
              <a:t>nonprintable machine-readable file</a:t>
            </a:r>
          </a:p>
          <a:p>
            <a:r>
              <a:rPr lang="en-GB" dirty="0"/>
              <a:t>Executable Program</a:t>
            </a:r>
          </a:p>
          <a:p>
            <a:pPr lvl="1"/>
            <a:r>
              <a:rPr lang="en-GB" dirty="0"/>
              <a:t>nonprintable executable code</a:t>
            </a:r>
          </a:p>
          <a:p>
            <a:r>
              <a:rPr lang="en-GB" dirty="0"/>
              <a:t>Syntax errors</a:t>
            </a:r>
          </a:p>
          <a:p>
            <a:pPr lvl="1"/>
            <a:r>
              <a:rPr lang="en-GB" dirty="0"/>
              <a:t>reported by the compiler</a:t>
            </a:r>
          </a:p>
          <a:p>
            <a:endParaRPr lang="en-B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96067-68F1-1AF8-56CE-F972E0A2E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4551B-5471-BB43-BA99-273592B8C0B9}" type="datetime1">
              <a:rPr lang="en-US" smtClean="0"/>
              <a:t>1/16/25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87E941-8B13-D6B0-AFED-FA98091D0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24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869361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EBAD6-D286-F742-68F9-6A100A5B4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Some Key Terms (Cont’d)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8FAD8-2AB3-882C-D042-D89688204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Linker errors</a:t>
            </a:r>
          </a:p>
          <a:p>
            <a:pPr lvl="1"/>
            <a:r>
              <a:rPr lang="en-GB" dirty="0"/>
              <a:t>it means that your code compiles fine, but that some function or library that is needed cannot be found.</a:t>
            </a:r>
          </a:p>
          <a:p>
            <a:r>
              <a:rPr lang="en-GB" dirty="0"/>
              <a:t>Execution/Run-time errors</a:t>
            </a:r>
          </a:p>
          <a:p>
            <a:pPr lvl="1"/>
            <a:r>
              <a:rPr lang="en-GB" dirty="0"/>
              <a:t>reported by the operating system</a:t>
            </a:r>
          </a:p>
          <a:p>
            <a:endParaRPr lang="en-B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1FC58-5589-6630-C599-6B03EE202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36A09-5EBE-A144-8117-FEE50F5D20DC}" type="datetime1">
              <a:rPr lang="en-US" smtClean="0"/>
              <a:t>1/16/25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64DB41-1592-A558-32FA-A760EA5F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25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222468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12D29-78BC-6E40-160D-279FEA64C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Integrated Development Environments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CF3EC-0739-C3D0-D80C-4B3EE63FD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integrated development environment (IDE) is a software package that makes it possible to edit, compile, link, execute, and debug a program without leaving the environment.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 err="1"/>
              <a:t>CodeBlocks</a:t>
            </a:r>
            <a:r>
              <a:rPr lang="en-GB" dirty="0"/>
              <a:t>, Turbo C</a:t>
            </a:r>
          </a:p>
          <a:p>
            <a:endParaRPr lang="en-B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098E2-605E-B997-B871-67EAAC908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97AE-8407-0943-8BC9-AE53677D8033}" type="datetime1">
              <a:rPr lang="en-US" smtClean="0"/>
              <a:t>1/16/25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B894A4-9620-3131-8138-A3F22790A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26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199803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E4D4CB-5317-B00B-49BE-D39E2DC1CF29}"/>
              </a:ext>
            </a:extLst>
          </p:cNvPr>
          <p:cNvSpPr txBox="1"/>
          <p:nvPr/>
        </p:nvSpPr>
        <p:spPr>
          <a:xfrm>
            <a:off x="3431177" y="2644170"/>
            <a:ext cx="55793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96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01C9B-8E69-1049-5C21-0BBE0C643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C8432-ACEC-8A4B-8866-A31DA1361A8B}" type="datetime1">
              <a:rPr lang="en-US" smtClean="0"/>
              <a:t>1/16/25</a:t>
            </a:fld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EBA91-4753-8A11-75BC-77CBD0E3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F7D7D-0CA8-0647-A1CA-75FCC6C4302E}" type="slidenum">
              <a:rPr lang="en-BD" smtClean="0"/>
              <a:t>27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681291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1133</TotalTime>
  <Words>1071</Words>
  <Application>Microsoft Macintosh PowerPoint</Application>
  <PresentationFormat>Widescreen</PresentationFormat>
  <Paragraphs>219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Times New Roman</vt:lpstr>
      <vt:lpstr>Office Theme</vt:lpstr>
      <vt:lpstr>SPL (Introduction)</vt:lpstr>
      <vt:lpstr>Language</vt:lpstr>
      <vt:lpstr>Programming Language</vt:lpstr>
      <vt:lpstr>Computer</vt:lpstr>
      <vt:lpstr>Types of computer languages</vt:lpstr>
      <vt:lpstr>Machine Language</vt:lpstr>
      <vt:lpstr>Assembly Language</vt:lpstr>
      <vt:lpstr>High level language</vt:lpstr>
      <vt:lpstr>High level language (Cont’d)</vt:lpstr>
      <vt:lpstr>High level language (Cont’d)</vt:lpstr>
      <vt:lpstr>High level language (Cont’d)</vt:lpstr>
      <vt:lpstr>Structured programming language</vt:lpstr>
      <vt:lpstr>What Are the Rules for Writing a Structured Program?</vt:lpstr>
      <vt:lpstr>Why C is called Structured programming language</vt:lpstr>
      <vt:lpstr>C - History</vt:lpstr>
      <vt:lpstr>Structure of a C program</vt:lpstr>
      <vt:lpstr>Document Section</vt:lpstr>
      <vt:lpstr>Link Section</vt:lpstr>
      <vt:lpstr>Definition Section</vt:lpstr>
      <vt:lpstr>Global Declaration Section</vt:lpstr>
      <vt:lpstr>Main Function</vt:lpstr>
      <vt:lpstr>Sub Programs </vt:lpstr>
      <vt:lpstr>Structure of C Program with example</vt:lpstr>
      <vt:lpstr>Some Key Terms</vt:lpstr>
      <vt:lpstr>Some Key Terms (Cont’d)</vt:lpstr>
      <vt:lpstr>Integrated Development Environments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Rakib Mahmud</dc:creator>
  <cp:lastModifiedBy>Rakib Mahmud</cp:lastModifiedBy>
  <cp:revision>3</cp:revision>
  <dcterms:created xsi:type="dcterms:W3CDTF">2025-01-13T17:59:59Z</dcterms:created>
  <dcterms:modified xsi:type="dcterms:W3CDTF">2025-01-16T10:27:30Z</dcterms:modified>
</cp:coreProperties>
</file>