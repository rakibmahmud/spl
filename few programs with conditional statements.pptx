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9" r:id="rId33"/>
    <p:sldId id="286" r:id="rId34"/>
    <p:sldId id="287" r:id="rId35"/>
    <p:sldId id="290" r:id="rId36"/>
    <p:sldId id="291" r:id="rId37"/>
    <p:sldId id="292" r:id="rId38"/>
    <p:sldId id="293" r:id="rId39"/>
    <p:sldId id="294" r:id="rId40"/>
    <p:sldId id="298" r:id="rId41"/>
    <p:sldId id="295" r:id="rId42"/>
    <p:sldId id="296" r:id="rId43"/>
    <p:sldId id="297" r:id="rId44"/>
    <p:sldId id="299" r:id="rId45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6"/>
    <p:restoredTop sz="94719"/>
  </p:normalViewPr>
  <p:slideViewPr>
    <p:cSldViewPr snapToGrid="0">
      <p:cViewPr varScale="1">
        <p:scale>
          <a:sx n="138" d="100"/>
          <a:sy n="138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08B36-9E18-514E-88E7-A3B2E2A65A7C}" type="datetimeFigureOut">
              <a:rPr lang="en-BD" smtClean="0"/>
              <a:t>13/9/24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8EA06-F8DE-454A-86AA-D44F3F00420D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1683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EA06-F8DE-454A-86AA-D44F3F00420D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6627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EA06-F8DE-454A-86AA-D44F3F00420D}" type="slidenum">
              <a:rPr lang="en-BD" smtClean="0"/>
              <a:t>36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2757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8338-6766-4739-9A9B-2FD6A44CE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C9F84-C9A6-1C29-42CD-ED56D1C36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C90D-F7AD-8EB1-C2BF-44F3C5EC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5DA6-FE32-BBC0-B8E1-59DA2950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7FC-31C5-3B9A-F040-EE82B208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8966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E08F-B1C9-211B-EC48-E793CE623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C3E8-B30F-BA45-C680-6A633178B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3E2C-B31D-090F-9D44-5F136488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FE99B-1A2F-CC34-75D6-20BE4405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8192F-B257-5F86-6AF5-1F91A846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179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28-10BE-A68C-E8AB-3C672C1E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1363-656D-1E8F-5F61-99BF3942F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B4663-3F1D-76B4-44FB-D1CC2CFD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30493-EA95-522A-AA01-AF213ACD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07EB0-9D96-1ADF-C993-89BFC34E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5593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7E25-B7DB-D3D9-0A62-15F7424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15D6-0EA5-B1DA-3110-CCCA6FCF7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9772D-7992-CAA7-7213-E09789B37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E4371-1679-481A-273E-6B8507CD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A99B9-54D6-9CAA-0A55-8040868E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9C81B-F4C4-38F0-5205-7D5413B1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75430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BDF2-6022-98F3-C7A9-16FECD80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E2E0C-9F68-15A4-AF01-3D43E5C0E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03C24-C701-D240-C51D-10C48273C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932DC-B16E-2146-840F-BAE8DA11E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489E6-BA7F-D642-201B-A0221BC0A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15C77-2DCD-7ECB-DD9F-A7859738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2C107-1923-9E7E-41AC-61543FB9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4333F-2FE4-ACC4-79BB-779672B8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5600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CA07-0077-8789-85B4-673A2B40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C5F8D-D46B-7DE1-FBDD-EC17F395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93582-AE73-04F3-A5E3-46C261A9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BC147-4BD7-791C-55C8-D53788D9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8033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70D21-548D-306D-8092-F90345FF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C465A-5ADC-301B-E1EA-FBDF4332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05CFD-EA0E-E40D-0D9C-BAF3D89F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3725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0783-1606-B1F0-DEC5-34DD5377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8865-7861-9FE7-C340-607E570AC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3EE56-5E45-6AD6-D004-EF0587E67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29C68-C230-E716-4B70-E1E24C57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600B7-3DE6-A625-D89B-7B1401E1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01A2C-A067-C699-4647-E57818D5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109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DEDB-D61F-F0D0-F4E3-6F2EE273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D4304-5884-A27E-44CC-1FBD60311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A667F-FD35-B901-A8C9-24EC5868C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F0D3A-3558-A546-A02E-AE1A49B4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7EBE9-875F-C21D-2B43-413B9E0D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9498-6E47-9C02-D705-D480B934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0894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CE90-D8FC-967F-A5D2-62FF0294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38BC5-D47E-450E-543F-ADA11A75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581B1-EAA8-1D6E-9491-E9F9AF8B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339B4-46E0-C3D7-1785-D6DEBCEF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76F37-D4D5-FDBF-20FE-E8F4CB01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920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979AF8-919C-A152-5D2A-9A93732B3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92E17-C85B-FFD2-D1BA-B1A3EEAD6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91F9D-EC6D-8786-8ECC-05FB2821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F287F-007A-974C-1B67-2BF69BDB8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CB60-9097-3DC3-6CD3-9B35171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220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CBD7F8-9C75-F17F-51BB-648DCC29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D394E-6F7A-3D3D-2917-DAA855FAC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49995-8F31-2D6C-9151-A25103F19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DD20C-843B-3742-B5A0-59D011EC6EC7}" type="datetimeFigureOut">
              <a:rPr lang="en-BD" smtClean="0"/>
              <a:t>13/9/24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0823D-B8F6-9BD3-93D2-46DE11A51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F0E9-7D7C-9F4A-DC8A-F1616D336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0C38A-1111-854F-B794-0FA33488F6A1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8920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569-8BC8-C7EA-9431-F185AD6BF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Few Programs with Conditional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9B241-D062-D40E-A257-CA29623A8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</p:spTree>
    <p:extLst>
      <p:ext uri="{BB962C8B-B14F-4D97-AF65-F5344CB8AC3E}">
        <p14:creationId xmlns:p14="http://schemas.microsoft.com/office/powerpoint/2010/main" val="230539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C17-E61A-56DF-0316-4A747BF3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Odd or Even Number</a:t>
            </a:r>
            <a:endParaRPr lang="en-B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BD0B99-136E-832D-E717-01B36E09A567}"/>
              </a:ext>
            </a:extLst>
          </p:cNvPr>
          <p:cNvSpPr/>
          <p:nvPr/>
        </p:nvSpPr>
        <p:spPr>
          <a:xfrm>
            <a:off x="5122718" y="1932709"/>
            <a:ext cx="1350818" cy="66501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9601B643-9D24-41B1-49E7-6EAF27CEE5F7}"/>
              </a:ext>
            </a:extLst>
          </p:cNvPr>
          <p:cNvSpPr/>
          <p:nvPr/>
        </p:nvSpPr>
        <p:spPr>
          <a:xfrm>
            <a:off x="4762499" y="2884992"/>
            <a:ext cx="2057400" cy="589252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07EEA89C-7DD5-3C63-1450-8FE1C470F0F2}"/>
              </a:ext>
            </a:extLst>
          </p:cNvPr>
          <p:cNvSpPr/>
          <p:nvPr/>
        </p:nvSpPr>
        <p:spPr>
          <a:xfrm>
            <a:off x="4675910" y="3684440"/>
            <a:ext cx="2230580" cy="86677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num%2==0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64A816-1516-637F-DE9F-F5A6D79F1F82}"/>
              </a:ext>
            </a:extLst>
          </p:cNvPr>
          <p:cNvSpPr/>
          <p:nvPr/>
        </p:nvSpPr>
        <p:spPr>
          <a:xfrm>
            <a:off x="5115790" y="5588468"/>
            <a:ext cx="1350818" cy="66501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A18A2B-B28E-8A0F-B30D-87C9AD5965F5}"/>
              </a:ext>
            </a:extLst>
          </p:cNvPr>
          <p:cNvCxnSpPr>
            <a:stCxn id="5" idx="4"/>
          </p:cNvCxnSpPr>
          <p:nvPr/>
        </p:nvCxnSpPr>
        <p:spPr>
          <a:xfrm flipH="1">
            <a:off x="5791200" y="2597727"/>
            <a:ext cx="6927" cy="28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F60C54-FCC3-4583-03E1-5B5625CD3BF7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5791199" y="3474244"/>
            <a:ext cx="1" cy="210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0B00CC-B47F-87E0-615C-0F032B3BF93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91200" y="4551217"/>
            <a:ext cx="0" cy="170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1986DD-BB1A-AFB8-279E-CA89EBBCFCD5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5791199" y="5147719"/>
            <a:ext cx="1" cy="440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14A680-E416-02EC-C796-F8ED0B2461E7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906490" y="4117828"/>
            <a:ext cx="5507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C22F6419-4DAD-D603-BAB4-B5BF912552B8}"/>
              </a:ext>
            </a:extLst>
          </p:cNvPr>
          <p:cNvCxnSpPr>
            <a:cxnSpLocks/>
          </p:cNvCxnSpPr>
          <p:nvPr/>
        </p:nvCxnSpPr>
        <p:spPr>
          <a:xfrm rot="5400000">
            <a:off x="6556718" y="3572251"/>
            <a:ext cx="1037251" cy="25544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E972BD-A050-D37E-0713-80EEB738D845}"/>
              </a:ext>
            </a:extLst>
          </p:cNvPr>
          <p:cNvSpPr txBox="1"/>
          <p:nvPr/>
        </p:nvSpPr>
        <p:spPr>
          <a:xfrm>
            <a:off x="6855374" y="374849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83DA9B-3128-B9AC-6F52-A99027202334}"/>
              </a:ext>
            </a:extLst>
          </p:cNvPr>
          <p:cNvSpPr txBox="1"/>
          <p:nvPr/>
        </p:nvSpPr>
        <p:spPr>
          <a:xfrm>
            <a:off x="6149396" y="439257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4F9CF0-DF12-EB05-17F8-8E23DA75CCA8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E462D8EE-296F-B97A-8777-B719A8950F05}"/>
              </a:ext>
            </a:extLst>
          </p:cNvPr>
          <p:cNvSpPr/>
          <p:nvPr/>
        </p:nvSpPr>
        <p:spPr>
          <a:xfrm>
            <a:off x="4797974" y="4761413"/>
            <a:ext cx="2057400" cy="49286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odd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3915016D-3796-6943-86FD-B49911BDA43F}"/>
              </a:ext>
            </a:extLst>
          </p:cNvPr>
          <p:cNvSpPr/>
          <p:nvPr/>
        </p:nvSpPr>
        <p:spPr>
          <a:xfrm>
            <a:off x="7292685" y="3864032"/>
            <a:ext cx="2057400" cy="49286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Even</a:t>
            </a:r>
          </a:p>
        </p:txBody>
      </p:sp>
    </p:spTree>
    <p:extLst>
      <p:ext uri="{BB962C8B-B14F-4D97-AF65-F5344CB8AC3E}">
        <p14:creationId xmlns:p14="http://schemas.microsoft.com/office/powerpoint/2010/main" val="389818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FA70E-ECAD-9196-55D9-EA40759D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Odd or Even Number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C019-DCDE-D2AC-6291-08B9252A8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926" y="1825625"/>
            <a:ext cx="7974873" cy="435133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BD" dirty="0"/>
              <a:t>Start.</a:t>
            </a:r>
          </a:p>
          <a:p>
            <a:pPr marL="514350" indent="-514350">
              <a:buFont typeface="+mj-lt"/>
              <a:buAutoNum type="arabicParenR"/>
            </a:pPr>
            <a:r>
              <a:rPr lang="en-BD" dirty="0"/>
              <a:t>Input num.</a:t>
            </a:r>
          </a:p>
          <a:p>
            <a:pPr marL="514350" indent="-514350">
              <a:buFont typeface="+mj-lt"/>
              <a:buAutoNum type="arabicParenR"/>
            </a:pPr>
            <a:r>
              <a:rPr lang="en-BD" dirty="0"/>
              <a:t>Is num%2==0: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Even.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print Odd.</a:t>
            </a:r>
          </a:p>
          <a:p>
            <a:pPr marL="514350" indent="-514350">
              <a:buFont typeface="+mj-lt"/>
              <a:buAutoNum type="arabicParenR"/>
            </a:pPr>
            <a:r>
              <a:rPr lang="en-BD" dirty="0"/>
              <a:t>Stop.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AF1A0-D935-6113-A040-0EF6396261FF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188514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0224-9C87-148E-B5B6-97ABA83D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 Program to Check for Odd or Even Number</a:t>
            </a: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C822DC9-0449-C3C7-39F2-5C390C5E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7438534" cy="4802188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EDFFAC9-9143-F465-2A5C-254173685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734" y="1690686"/>
            <a:ext cx="3000866" cy="32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2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927C-0004-E867-F73D-13FA4AED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Positive Number or Negative Number or Zero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72C9186-0927-6F23-9F4A-140FEBD6DB2C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4F255576-B077-CFAB-25DD-71BA9674B9F7}"/>
              </a:ext>
            </a:extLst>
          </p:cNvPr>
          <p:cNvSpPr/>
          <p:nvPr/>
        </p:nvSpPr>
        <p:spPr>
          <a:xfrm>
            <a:off x="4762499" y="2416509"/>
            <a:ext cx="2057400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1CA2095B-5867-76A0-1410-FA6EE11FCC18}"/>
              </a:ext>
            </a:extLst>
          </p:cNvPr>
          <p:cNvSpPr/>
          <p:nvPr/>
        </p:nvSpPr>
        <p:spPr>
          <a:xfrm>
            <a:off x="4697410" y="2881322"/>
            <a:ext cx="2187579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num&gt;0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7AD0F2-95B4-9C86-6157-3885A06A38E0}"/>
              </a:ext>
            </a:extLst>
          </p:cNvPr>
          <p:cNvSpPr/>
          <p:nvPr/>
        </p:nvSpPr>
        <p:spPr>
          <a:xfrm>
            <a:off x="5090151" y="5313758"/>
            <a:ext cx="1350818" cy="66501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75F34A-9DBB-24A8-5202-443E1B7D9362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91199" y="2279940"/>
            <a:ext cx="3464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3E9746-2AF7-074C-9F7E-5DD5D7F1B483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5791199" y="2749147"/>
            <a:ext cx="1" cy="13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F0CDA-D178-8932-94A9-1772788E2B7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91200" y="3398317"/>
            <a:ext cx="0" cy="219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43094B-28EE-79AC-937C-5C35879D0A9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5778816" y="3398317"/>
            <a:ext cx="12384" cy="1060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C3D78B-EC5A-FC9F-E9AB-92C41F93CE8F}"/>
              </a:ext>
            </a:extLst>
          </p:cNvPr>
          <p:cNvCxnSpPr>
            <a:cxnSpLocks/>
          </p:cNvCxnSpPr>
          <p:nvPr/>
        </p:nvCxnSpPr>
        <p:spPr>
          <a:xfrm>
            <a:off x="6884989" y="3133121"/>
            <a:ext cx="498030" cy="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EF05E3-BAD7-C938-9159-DBBF816BA1C8}"/>
              </a:ext>
            </a:extLst>
          </p:cNvPr>
          <p:cNvSpPr txBox="1"/>
          <p:nvPr/>
        </p:nvSpPr>
        <p:spPr>
          <a:xfrm>
            <a:off x="6855374" y="354903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3AF32-EFE7-4679-B3EF-AE8B0B6A8820}"/>
              </a:ext>
            </a:extLst>
          </p:cNvPr>
          <p:cNvSpPr txBox="1"/>
          <p:nvPr/>
        </p:nvSpPr>
        <p:spPr>
          <a:xfrm>
            <a:off x="5828100" y="4145532"/>
            <a:ext cx="57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92" name="Decision 91">
            <a:extLst>
              <a:ext uri="{FF2B5EF4-FFF2-40B4-BE49-F238E27FC236}">
                <a16:creationId xmlns:a16="http://schemas.microsoft.com/office/drawing/2014/main" id="{B27C7DCB-6A8D-B6FB-5DCC-55534599B07B}"/>
              </a:ext>
            </a:extLst>
          </p:cNvPr>
          <p:cNvSpPr/>
          <p:nvPr/>
        </p:nvSpPr>
        <p:spPr>
          <a:xfrm>
            <a:off x="4702258" y="3608044"/>
            <a:ext cx="2187579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num&lt;0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2077D57-D1DA-5CFA-8F7E-DB8D915F785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889837" y="3866542"/>
            <a:ext cx="49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D970B4B7-A0BC-8AC8-C670-D726BDF5CADA}"/>
              </a:ext>
            </a:extLst>
          </p:cNvPr>
          <p:cNvSpPr txBox="1"/>
          <p:nvPr/>
        </p:nvSpPr>
        <p:spPr>
          <a:xfrm>
            <a:off x="5925991" y="333151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1D3C4E8-B3C2-A23B-3B94-C319292C5CC7}"/>
              </a:ext>
            </a:extLst>
          </p:cNvPr>
          <p:cNvSpPr txBox="1"/>
          <p:nvPr/>
        </p:nvSpPr>
        <p:spPr>
          <a:xfrm>
            <a:off x="6814620" y="2829493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0C6EBF0-77F8-C94E-B725-125AB5137A77}"/>
              </a:ext>
            </a:extLst>
          </p:cNvPr>
          <p:cNvSpPr/>
          <p:nvPr/>
        </p:nvSpPr>
        <p:spPr>
          <a:xfrm>
            <a:off x="5122718" y="4467583"/>
            <a:ext cx="1350818" cy="4260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Zero</a:t>
            </a:r>
            <a:endParaRPr lang="en-BD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15E5777-AD8E-66D1-B673-554550C28699}"/>
              </a:ext>
            </a:extLst>
          </p:cNvPr>
          <p:cNvCxnSpPr>
            <a:cxnSpLocks/>
          </p:cNvCxnSpPr>
          <p:nvPr/>
        </p:nvCxnSpPr>
        <p:spPr>
          <a:xfrm>
            <a:off x="5765560" y="4903849"/>
            <a:ext cx="0" cy="399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9CB10CDA-9095-E491-FAA4-4802DB87F0E3}"/>
              </a:ext>
            </a:extLst>
          </p:cNvPr>
          <p:cNvCxnSpPr>
            <a:cxnSpLocks/>
          </p:cNvCxnSpPr>
          <p:nvPr/>
        </p:nvCxnSpPr>
        <p:spPr>
          <a:xfrm flipH="1">
            <a:off x="5732347" y="3101688"/>
            <a:ext cx="3967947" cy="2002980"/>
          </a:xfrm>
          <a:prstGeom prst="bentConnector3">
            <a:avLst>
              <a:gd name="adj1" fmla="val -13014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C84F945-5193-4088-ED88-A3F50B37BE04}"/>
              </a:ext>
            </a:extLst>
          </p:cNvPr>
          <p:cNvCxnSpPr>
            <a:cxnSpLocks/>
            <a:stCxn id="18" idx="5"/>
          </p:cNvCxnSpPr>
          <p:nvPr/>
        </p:nvCxnSpPr>
        <p:spPr>
          <a:xfrm>
            <a:off x="9700294" y="3866541"/>
            <a:ext cx="542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BC44A20-AC72-9048-BE77-9BD53E392387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7BF29C5E-C124-D34F-6F32-A187E95D5D3C}"/>
              </a:ext>
            </a:extLst>
          </p:cNvPr>
          <p:cNvSpPr/>
          <p:nvPr/>
        </p:nvSpPr>
        <p:spPr>
          <a:xfrm>
            <a:off x="7143440" y="2772851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positive number</a:t>
            </a:r>
          </a:p>
        </p:txBody>
      </p:sp>
      <p:sp>
        <p:nvSpPr>
          <p:cNvPr id="18" name="Data 17">
            <a:extLst>
              <a:ext uri="{FF2B5EF4-FFF2-40B4-BE49-F238E27FC236}">
                <a16:creationId xmlns:a16="http://schemas.microsoft.com/office/drawing/2014/main" id="{32C09E7C-FF36-5CF6-B8F7-06CF99103FFC}"/>
              </a:ext>
            </a:extLst>
          </p:cNvPr>
          <p:cNvSpPr/>
          <p:nvPr/>
        </p:nvSpPr>
        <p:spPr>
          <a:xfrm>
            <a:off x="7110227" y="3538688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negative number</a:t>
            </a:r>
          </a:p>
        </p:txBody>
      </p:sp>
    </p:spTree>
    <p:extLst>
      <p:ext uri="{BB962C8B-B14F-4D97-AF65-F5344CB8AC3E}">
        <p14:creationId xmlns:p14="http://schemas.microsoft.com/office/powerpoint/2010/main" val="4972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86DC-09D2-F96F-351E-861E96DE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Positive Number or Negative Number or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4462F-1063-420C-F4BB-5C17D0927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954" y="1825625"/>
            <a:ext cx="8543108" cy="466725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Start.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num.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num&gt;0: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positive number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4.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num&lt;0: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negative number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5.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</a:t>
            </a:r>
            <a:r>
              <a:rPr lang="en-BD" dirty="0"/>
              <a:t>therwise: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GB" dirty="0"/>
              <a:t>P</a:t>
            </a:r>
            <a:r>
              <a:rPr lang="en-BD" dirty="0"/>
              <a:t>rint zero and end.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B22A9-DAF3-161F-83A2-9140FAD23BEA}"/>
              </a:ext>
            </a:extLst>
          </p:cNvPr>
          <p:cNvSpPr txBox="1"/>
          <p:nvPr/>
        </p:nvSpPr>
        <p:spPr>
          <a:xfrm>
            <a:off x="748938" y="1690688"/>
            <a:ext cx="189071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Algorithm:</a:t>
            </a:r>
          </a:p>
          <a:p>
            <a:endParaRPr lang="en-BD" u="sng" dirty="0"/>
          </a:p>
        </p:txBody>
      </p:sp>
    </p:spTree>
    <p:extLst>
      <p:ext uri="{BB962C8B-B14F-4D97-AF65-F5344CB8AC3E}">
        <p14:creationId xmlns:p14="http://schemas.microsoft.com/office/powerpoint/2010/main" val="2615295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FA70-8FD2-4839-D1D4-8EE9ECD2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 Program to Check </a:t>
            </a:r>
            <a:r>
              <a:rPr lang="en-BD" dirty="0"/>
              <a:t>Positive Number or Negative Number or Zero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0FFC5B9-AF27-13CA-C1E9-B4906252D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529" y="1839361"/>
            <a:ext cx="6969728" cy="4653513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75E2A61-15B7-C884-BEE2-E1F9125A4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57" y="1839361"/>
            <a:ext cx="3472543" cy="226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7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782A-316B-97CA-F405-3B13A8D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larger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B31819-FF55-A4C5-1EF2-4324E5D0F4D3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6E03C44E-6952-CE58-F779-39BE372188C1}"/>
              </a:ext>
            </a:extLst>
          </p:cNvPr>
          <p:cNvSpPr/>
          <p:nvPr/>
        </p:nvSpPr>
        <p:spPr>
          <a:xfrm>
            <a:off x="3892731" y="2416509"/>
            <a:ext cx="3796938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num1,num2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7B48F5CB-B712-7BB6-F29D-E163D60FC55F}"/>
              </a:ext>
            </a:extLst>
          </p:cNvPr>
          <p:cNvSpPr/>
          <p:nvPr/>
        </p:nvSpPr>
        <p:spPr>
          <a:xfrm>
            <a:off x="3953222" y="2894844"/>
            <a:ext cx="3675955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num1&gt;num2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BD61C2-B913-6330-A5F2-A35E61C03EA7}"/>
              </a:ext>
            </a:extLst>
          </p:cNvPr>
          <p:cNvSpPr/>
          <p:nvPr/>
        </p:nvSpPr>
        <p:spPr>
          <a:xfrm>
            <a:off x="5095325" y="5416179"/>
            <a:ext cx="1364462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20B66C-D928-C560-B79A-06F78C60C1CD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91200" y="2279940"/>
            <a:ext cx="3463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2E63C0-6217-9FAB-12EA-9C59FC8B231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5791200" y="2749147"/>
            <a:ext cx="0" cy="145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97FCCE-2DB3-BE71-F87D-B7820796478E}"/>
              </a:ext>
            </a:extLst>
          </p:cNvPr>
          <p:cNvCxnSpPr>
            <a:cxnSpLocks/>
          </p:cNvCxnSpPr>
          <p:nvPr/>
        </p:nvCxnSpPr>
        <p:spPr>
          <a:xfrm>
            <a:off x="7631128" y="3153341"/>
            <a:ext cx="5682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7070C0-37AA-88DA-235D-DF8D525EC491}"/>
              </a:ext>
            </a:extLst>
          </p:cNvPr>
          <p:cNvSpPr txBox="1"/>
          <p:nvPr/>
        </p:nvSpPr>
        <p:spPr>
          <a:xfrm>
            <a:off x="7538486" y="341183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BA6D2-02D8-347B-48BD-EB1627066155}"/>
              </a:ext>
            </a:extLst>
          </p:cNvPr>
          <p:cNvSpPr txBox="1"/>
          <p:nvPr/>
        </p:nvSpPr>
        <p:spPr>
          <a:xfrm>
            <a:off x="7538486" y="276182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748B5D-A54F-CA03-3362-10C420DBC2F5}"/>
              </a:ext>
            </a:extLst>
          </p:cNvPr>
          <p:cNvSpPr/>
          <p:nvPr/>
        </p:nvSpPr>
        <p:spPr>
          <a:xfrm>
            <a:off x="4745987" y="4392969"/>
            <a:ext cx="2096673" cy="4260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they are equal</a:t>
            </a:r>
            <a:endParaRPr lang="en-BD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AB71ED-A97E-7758-A6DA-33CAF1AF8958}"/>
              </a:ext>
            </a:extLst>
          </p:cNvPr>
          <p:cNvCxnSpPr>
            <a:cxnSpLocks/>
          </p:cNvCxnSpPr>
          <p:nvPr/>
        </p:nvCxnSpPr>
        <p:spPr>
          <a:xfrm>
            <a:off x="5777556" y="4818997"/>
            <a:ext cx="0" cy="57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548DC13F-27BF-85DD-DA24-5151ECE0AA0C}"/>
              </a:ext>
            </a:extLst>
          </p:cNvPr>
          <p:cNvCxnSpPr>
            <a:cxnSpLocks/>
            <a:stCxn id="3" idx="5"/>
          </p:cNvCxnSpPr>
          <p:nvPr/>
        </p:nvCxnSpPr>
        <p:spPr>
          <a:xfrm flipH="1">
            <a:off x="5791198" y="3083986"/>
            <a:ext cx="4777164" cy="1986864"/>
          </a:xfrm>
          <a:prstGeom prst="bentConnector3">
            <a:avLst>
              <a:gd name="adj1" fmla="val -10809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B8620A-7F11-6845-B64E-2E5C8519D3EA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10568362" y="3842695"/>
            <a:ext cx="5152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45FDF5F-E9DE-0F1A-B642-3668FD122795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39" name="Decision 38">
            <a:extLst>
              <a:ext uri="{FF2B5EF4-FFF2-40B4-BE49-F238E27FC236}">
                <a16:creationId xmlns:a16="http://schemas.microsoft.com/office/drawing/2014/main" id="{4E42809D-0D18-D357-ABDB-1E3A0CE03E73}"/>
              </a:ext>
            </a:extLst>
          </p:cNvPr>
          <p:cNvSpPr/>
          <p:nvPr/>
        </p:nvSpPr>
        <p:spPr>
          <a:xfrm>
            <a:off x="3957126" y="3629779"/>
            <a:ext cx="3675955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num2&gt;num1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4024C3-FF24-99E9-652E-99E096745BB4}"/>
              </a:ext>
            </a:extLst>
          </p:cNvPr>
          <p:cNvCxnSpPr>
            <a:stCxn id="7" idx="2"/>
            <a:endCxn id="39" idx="0"/>
          </p:cNvCxnSpPr>
          <p:nvPr/>
        </p:nvCxnSpPr>
        <p:spPr>
          <a:xfrm>
            <a:off x="5791200" y="3411839"/>
            <a:ext cx="3904" cy="217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9F08A1-68DF-2258-4891-859EA9751BDF}"/>
              </a:ext>
            </a:extLst>
          </p:cNvPr>
          <p:cNvCxnSpPr>
            <a:stCxn id="39" idx="3"/>
          </p:cNvCxnSpPr>
          <p:nvPr/>
        </p:nvCxnSpPr>
        <p:spPr>
          <a:xfrm flipV="1">
            <a:off x="7633081" y="3888276"/>
            <a:ext cx="564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E04439D-2ACE-0366-35D2-FF6ECE94245C}"/>
              </a:ext>
            </a:extLst>
          </p:cNvPr>
          <p:cNvCxnSpPr>
            <a:stCxn id="39" idx="2"/>
            <a:endCxn id="21" idx="0"/>
          </p:cNvCxnSpPr>
          <p:nvPr/>
        </p:nvCxnSpPr>
        <p:spPr>
          <a:xfrm flipH="1">
            <a:off x="5794324" y="4146774"/>
            <a:ext cx="780" cy="24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C2C2FCE-5ACE-498B-6702-DEB5296CE9DF}"/>
              </a:ext>
            </a:extLst>
          </p:cNvPr>
          <p:cNvSpPr txBox="1"/>
          <p:nvPr/>
        </p:nvSpPr>
        <p:spPr>
          <a:xfrm>
            <a:off x="5922088" y="334009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7D1844-A09C-5619-2551-0BC224646A72}"/>
              </a:ext>
            </a:extLst>
          </p:cNvPr>
          <p:cNvSpPr txBox="1"/>
          <p:nvPr/>
        </p:nvSpPr>
        <p:spPr>
          <a:xfrm>
            <a:off x="5922088" y="402821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77E9D5EB-48E1-D16B-D3A8-4406196B5E3C}"/>
              </a:ext>
            </a:extLst>
          </p:cNvPr>
          <p:cNvSpPr/>
          <p:nvPr/>
        </p:nvSpPr>
        <p:spPr>
          <a:xfrm>
            <a:off x="7978295" y="2756133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num1 is maximum</a:t>
            </a:r>
            <a:endParaRPr lang="en-BD" dirty="0"/>
          </a:p>
        </p:txBody>
      </p:sp>
      <p:sp>
        <p:nvSpPr>
          <p:cNvPr id="11" name="Data 10">
            <a:extLst>
              <a:ext uri="{FF2B5EF4-FFF2-40B4-BE49-F238E27FC236}">
                <a16:creationId xmlns:a16="http://schemas.microsoft.com/office/drawing/2014/main" id="{CA19AF58-A9AB-BD10-B804-57501397A465}"/>
              </a:ext>
            </a:extLst>
          </p:cNvPr>
          <p:cNvSpPr/>
          <p:nvPr/>
        </p:nvSpPr>
        <p:spPr>
          <a:xfrm>
            <a:off x="7978295" y="3514842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num2 is maximum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8428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9417-1954-FDCB-31A9-73FD5246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larger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CC010-F8CA-6F5F-2F74-ACF74F351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7828" y="1825625"/>
            <a:ext cx="6955971" cy="48886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num1, num2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num1 &gt; num2: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num1 is maximum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num2 &gt; num1: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num2 is maximum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Otherwise: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Print they are equal and end.</a:t>
            </a:r>
          </a:p>
          <a:p>
            <a:endParaRPr lang="en-BD" dirty="0"/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ACBC9-82E4-D0CA-2BD2-CCE1CA76ADF1}"/>
              </a:ext>
            </a:extLst>
          </p:cNvPr>
          <p:cNvSpPr txBox="1"/>
          <p:nvPr/>
        </p:nvSpPr>
        <p:spPr>
          <a:xfrm>
            <a:off x="786899" y="1825625"/>
            <a:ext cx="189071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Algorithm:</a:t>
            </a:r>
          </a:p>
          <a:p>
            <a:endParaRPr lang="en-BD" u="sng" dirty="0"/>
          </a:p>
        </p:txBody>
      </p:sp>
    </p:spTree>
    <p:extLst>
      <p:ext uri="{BB962C8B-B14F-4D97-AF65-F5344CB8AC3E}">
        <p14:creationId xmlns:p14="http://schemas.microsoft.com/office/powerpoint/2010/main" val="3029750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6C68-1AF2-A6D4-8316-1E70E113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find the larger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C41CC1B-A43C-2F3B-4D42-628CD60CE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224" y="1690687"/>
            <a:ext cx="7322217" cy="4802187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E49EA52-8A76-AB96-B2B2-C1ECEE86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441" y="1690686"/>
            <a:ext cx="3039359" cy="229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7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DE1E-14E4-3A84-6C84-27CC60C8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smaller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8EEA31-A070-E2DA-62AE-0F7011BF3305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1DF2333B-7966-7A55-849B-17BCAE8B82EF}"/>
              </a:ext>
            </a:extLst>
          </p:cNvPr>
          <p:cNvSpPr/>
          <p:nvPr/>
        </p:nvSpPr>
        <p:spPr>
          <a:xfrm>
            <a:off x="3892731" y="2416509"/>
            <a:ext cx="3796938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num1,num2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E9145A39-01D7-81C3-20BA-D82D8DF64B91}"/>
              </a:ext>
            </a:extLst>
          </p:cNvPr>
          <p:cNvSpPr/>
          <p:nvPr/>
        </p:nvSpPr>
        <p:spPr>
          <a:xfrm>
            <a:off x="3953222" y="2894844"/>
            <a:ext cx="3675955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num1&lt;num2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A07395-F281-444E-9533-D43301DDECE0}"/>
              </a:ext>
            </a:extLst>
          </p:cNvPr>
          <p:cNvSpPr/>
          <p:nvPr/>
        </p:nvSpPr>
        <p:spPr>
          <a:xfrm>
            <a:off x="5095325" y="5416179"/>
            <a:ext cx="1364462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0148BC-7598-9811-2749-9E85BF349950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91200" y="2279940"/>
            <a:ext cx="3463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A2755D-B6CE-CC89-828F-2BFF61A8C66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5791200" y="2749147"/>
            <a:ext cx="0" cy="145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BEEEED-8CC2-B542-964B-81D8E60C82EB}"/>
              </a:ext>
            </a:extLst>
          </p:cNvPr>
          <p:cNvCxnSpPr>
            <a:cxnSpLocks/>
          </p:cNvCxnSpPr>
          <p:nvPr/>
        </p:nvCxnSpPr>
        <p:spPr>
          <a:xfrm>
            <a:off x="7631128" y="3153341"/>
            <a:ext cx="5682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679036-4749-8E2F-A6FC-DC1F48054CD5}"/>
              </a:ext>
            </a:extLst>
          </p:cNvPr>
          <p:cNvSpPr txBox="1"/>
          <p:nvPr/>
        </p:nvSpPr>
        <p:spPr>
          <a:xfrm>
            <a:off x="7538486" y="341183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EDBA4-3705-FB23-9741-3D08B7BC5650}"/>
              </a:ext>
            </a:extLst>
          </p:cNvPr>
          <p:cNvSpPr txBox="1"/>
          <p:nvPr/>
        </p:nvSpPr>
        <p:spPr>
          <a:xfrm>
            <a:off x="7538486" y="276182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C40D0C-38A2-742C-14C6-4092804A5854}"/>
              </a:ext>
            </a:extLst>
          </p:cNvPr>
          <p:cNvCxnSpPr>
            <a:cxnSpLocks/>
          </p:cNvCxnSpPr>
          <p:nvPr/>
        </p:nvCxnSpPr>
        <p:spPr>
          <a:xfrm flipH="1">
            <a:off x="5777556" y="4781476"/>
            <a:ext cx="13642" cy="60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23FA4402-8860-5A24-1C39-BAAE620386EE}"/>
              </a:ext>
            </a:extLst>
          </p:cNvPr>
          <p:cNvCxnSpPr>
            <a:cxnSpLocks/>
            <a:stCxn id="3" idx="5"/>
          </p:cNvCxnSpPr>
          <p:nvPr/>
        </p:nvCxnSpPr>
        <p:spPr>
          <a:xfrm flipH="1">
            <a:off x="5791198" y="3083986"/>
            <a:ext cx="4796897" cy="1986864"/>
          </a:xfrm>
          <a:prstGeom prst="bentConnector3">
            <a:avLst>
              <a:gd name="adj1" fmla="val -10765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69699D-B046-8422-7CD7-AB2787320E5C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10531510" y="3842695"/>
            <a:ext cx="5961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C8B032-D6C2-EDD6-D211-8210CDC690DE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20" name="Decision 19">
            <a:extLst>
              <a:ext uri="{FF2B5EF4-FFF2-40B4-BE49-F238E27FC236}">
                <a16:creationId xmlns:a16="http://schemas.microsoft.com/office/drawing/2014/main" id="{4F130D57-B709-DBB9-7EFC-630C346DF6C7}"/>
              </a:ext>
            </a:extLst>
          </p:cNvPr>
          <p:cNvSpPr/>
          <p:nvPr/>
        </p:nvSpPr>
        <p:spPr>
          <a:xfrm>
            <a:off x="3957126" y="3629779"/>
            <a:ext cx="3675955" cy="5169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num2&lt;num1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EEFA73-B156-9109-996C-8B6508342D1C}"/>
              </a:ext>
            </a:extLst>
          </p:cNvPr>
          <p:cNvCxnSpPr>
            <a:stCxn id="7" idx="2"/>
            <a:endCxn id="20" idx="0"/>
          </p:cNvCxnSpPr>
          <p:nvPr/>
        </p:nvCxnSpPr>
        <p:spPr>
          <a:xfrm>
            <a:off x="5791200" y="3411839"/>
            <a:ext cx="3904" cy="217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365919-8DEF-842B-9852-A73D7AB29128}"/>
              </a:ext>
            </a:extLst>
          </p:cNvPr>
          <p:cNvCxnSpPr>
            <a:stCxn id="20" idx="3"/>
          </p:cNvCxnSpPr>
          <p:nvPr/>
        </p:nvCxnSpPr>
        <p:spPr>
          <a:xfrm flipV="1">
            <a:off x="7633081" y="3888276"/>
            <a:ext cx="564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31AB56-B88B-5841-3FF8-A9293C649937}"/>
              </a:ext>
            </a:extLst>
          </p:cNvPr>
          <p:cNvCxnSpPr>
            <a:cxnSpLocks/>
            <a:stCxn id="20" idx="2"/>
            <a:endCxn id="30" idx="1"/>
          </p:cNvCxnSpPr>
          <p:nvPr/>
        </p:nvCxnSpPr>
        <p:spPr>
          <a:xfrm flipH="1">
            <a:off x="5791200" y="4146774"/>
            <a:ext cx="3904" cy="284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8BEB9B-E6B2-77CF-79F1-7FD0A1793335}"/>
              </a:ext>
            </a:extLst>
          </p:cNvPr>
          <p:cNvSpPr txBox="1"/>
          <p:nvPr/>
        </p:nvSpPr>
        <p:spPr>
          <a:xfrm>
            <a:off x="5922088" y="334009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A18CF-F8B0-2B1D-362A-F8A0F07D705E}"/>
              </a:ext>
            </a:extLst>
          </p:cNvPr>
          <p:cNvSpPr txBox="1"/>
          <p:nvPr/>
        </p:nvSpPr>
        <p:spPr>
          <a:xfrm>
            <a:off x="5922088" y="402821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9EBA5D4E-CF57-DFD3-F947-D15C799D588B}"/>
              </a:ext>
            </a:extLst>
          </p:cNvPr>
          <p:cNvSpPr/>
          <p:nvPr/>
        </p:nvSpPr>
        <p:spPr>
          <a:xfrm>
            <a:off x="7998028" y="2756133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num1 is minimum</a:t>
            </a:r>
            <a:endParaRPr lang="en-BD" dirty="0"/>
          </a:p>
        </p:txBody>
      </p:sp>
      <p:sp>
        <p:nvSpPr>
          <p:cNvPr id="26" name="Data 25">
            <a:extLst>
              <a:ext uri="{FF2B5EF4-FFF2-40B4-BE49-F238E27FC236}">
                <a16:creationId xmlns:a16="http://schemas.microsoft.com/office/drawing/2014/main" id="{75DD30C7-3203-C7F6-F2EC-DF5FA590B9B4}"/>
              </a:ext>
            </a:extLst>
          </p:cNvPr>
          <p:cNvSpPr/>
          <p:nvPr/>
        </p:nvSpPr>
        <p:spPr>
          <a:xfrm>
            <a:off x="7941443" y="3514842"/>
            <a:ext cx="2877852" cy="6557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num2 is minimum</a:t>
            </a:r>
            <a:endParaRPr lang="en-BD" dirty="0"/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069937E3-8A2E-2F8E-5DB7-929F4D858385}"/>
              </a:ext>
            </a:extLst>
          </p:cNvPr>
          <p:cNvSpPr/>
          <p:nvPr/>
        </p:nvSpPr>
        <p:spPr>
          <a:xfrm>
            <a:off x="3892731" y="4430986"/>
            <a:ext cx="3796938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they are equal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902931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D37D-4D17-229A-F4BE-5BA58DB9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smaller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E845B5-832D-6D38-5954-B7CB214B5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7828" y="1825625"/>
            <a:ext cx="6955971" cy="48886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num1, num2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num1 &lt; num2: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num1 is minimum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num2 &lt; num1: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num2 is minimum and end.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Otherwise: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Print they are equal and end.</a:t>
            </a:r>
          </a:p>
          <a:p>
            <a:endParaRPr lang="en-BD" dirty="0"/>
          </a:p>
          <a:p>
            <a:endParaRPr lang="en-B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2336E-4115-B119-99A5-A791DF80CF67}"/>
              </a:ext>
            </a:extLst>
          </p:cNvPr>
          <p:cNvSpPr txBox="1"/>
          <p:nvPr/>
        </p:nvSpPr>
        <p:spPr>
          <a:xfrm>
            <a:off x="786899" y="1825625"/>
            <a:ext cx="189071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Algorithm:</a:t>
            </a:r>
          </a:p>
          <a:p>
            <a:endParaRPr lang="en-BD" u="sng" dirty="0"/>
          </a:p>
        </p:txBody>
      </p:sp>
    </p:spTree>
    <p:extLst>
      <p:ext uri="{BB962C8B-B14F-4D97-AF65-F5344CB8AC3E}">
        <p14:creationId xmlns:p14="http://schemas.microsoft.com/office/powerpoint/2010/main" val="312636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46BC-4329-DA3C-B722-FB4D5AB9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find the smaller of two numbers </a:t>
            </a:r>
            <a:r>
              <a:rPr lang="en-GB" dirty="0"/>
              <a:t>or determine if they are equal</a:t>
            </a: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7A62E52-E3EF-C357-4382-D1C0D2FC1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859" y="1842593"/>
            <a:ext cx="7053444" cy="4650282"/>
          </a:xfr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0991341-1C0E-9B01-ADE3-083245CAF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303" y="1842593"/>
            <a:ext cx="3100251" cy="221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7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589D-232E-F8D4-EB95-7CE60AC0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maximum/minimum of three numbers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6A9196-0914-37A3-5D07-4A93E250ED25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A72F9D4B-FF71-3442-EEBD-295477C70011}"/>
              </a:ext>
            </a:extLst>
          </p:cNvPr>
          <p:cNvSpPr/>
          <p:nvPr/>
        </p:nvSpPr>
        <p:spPr>
          <a:xfrm>
            <a:off x="3422468" y="2416509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num1, num2, num3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1DD54405-800C-F3D9-FB06-F7A85D11BF3C}"/>
              </a:ext>
            </a:extLst>
          </p:cNvPr>
          <p:cNvSpPr/>
          <p:nvPr/>
        </p:nvSpPr>
        <p:spPr>
          <a:xfrm>
            <a:off x="3500201" y="2902271"/>
            <a:ext cx="455471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(num1&gt;num2) AND (num1&gt;num3)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448191-6EAA-55AC-5C0B-8B3554753D08}"/>
              </a:ext>
            </a:extLst>
          </p:cNvPr>
          <p:cNvSpPr/>
          <p:nvPr/>
        </p:nvSpPr>
        <p:spPr>
          <a:xfrm>
            <a:off x="5112432" y="5779267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F81260-8CD7-9B58-8FC7-25266CFBB278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78137" y="2279940"/>
            <a:ext cx="16526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5B5D98-3C4C-F168-2AEC-B445E56DDAD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5777556" y="2749147"/>
            <a:ext cx="581" cy="15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24257D-4219-AEC2-28B9-FC681B760EDA}"/>
              </a:ext>
            </a:extLst>
          </p:cNvPr>
          <p:cNvCxnSpPr>
            <a:cxnSpLocks/>
          </p:cNvCxnSpPr>
          <p:nvPr/>
        </p:nvCxnSpPr>
        <p:spPr>
          <a:xfrm>
            <a:off x="8061392" y="3304734"/>
            <a:ext cx="582016" cy="6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AC6907-9251-DBC5-F1CB-628ACA746823}"/>
              </a:ext>
            </a:extLst>
          </p:cNvPr>
          <p:cNvSpPr txBox="1"/>
          <p:nvPr/>
        </p:nvSpPr>
        <p:spPr>
          <a:xfrm>
            <a:off x="8115763" y="385437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C2AAA-9E4A-C683-ED61-41647C259E73}"/>
              </a:ext>
            </a:extLst>
          </p:cNvPr>
          <p:cNvSpPr txBox="1"/>
          <p:nvPr/>
        </p:nvSpPr>
        <p:spPr>
          <a:xfrm>
            <a:off x="7999607" y="294188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549B77-F207-FCB9-BAB8-1247ED84992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52660" y="5303659"/>
            <a:ext cx="3956" cy="47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FD8A6100-5CBD-80E9-B671-1968E0E446D2}"/>
              </a:ext>
            </a:extLst>
          </p:cNvPr>
          <p:cNvCxnSpPr>
            <a:cxnSpLocks/>
          </p:cNvCxnSpPr>
          <p:nvPr/>
        </p:nvCxnSpPr>
        <p:spPr>
          <a:xfrm flipH="1">
            <a:off x="5744121" y="3304228"/>
            <a:ext cx="4587564" cy="2243132"/>
          </a:xfrm>
          <a:prstGeom prst="bentConnector3">
            <a:avLst>
              <a:gd name="adj1" fmla="val -4983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CAC419-69DF-6F9D-8F47-0A47CDDFC817}"/>
              </a:ext>
            </a:extLst>
          </p:cNvPr>
          <p:cNvCxnSpPr>
            <a:cxnSpLocks/>
          </p:cNvCxnSpPr>
          <p:nvPr/>
        </p:nvCxnSpPr>
        <p:spPr>
          <a:xfrm>
            <a:off x="10334949" y="4276987"/>
            <a:ext cx="245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7528A3-5573-C8C0-8E01-ACAAAAFB9683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C488AE-4F77-1966-1D9D-7EB32DD4B0C4}"/>
              </a:ext>
            </a:extLst>
          </p:cNvPr>
          <p:cNvCxnSpPr>
            <a:cxnSpLocks/>
          </p:cNvCxnSpPr>
          <p:nvPr/>
        </p:nvCxnSpPr>
        <p:spPr>
          <a:xfrm flipV="1">
            <a:off x="8039717" y="4236555"/>
            <a:ext cx="722205" cy="1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D55E5E-F558-91CC-C2C9-287562A36042}"/>
              </a:ext>
            </a:extLst>
          </p:cNvPr>
          <p:cNvCxnSpPr>
            <a:cxnSpLocks/>
          </p:cNvCxnSpPr>
          <p:nvPr/>
        </p:nvCxnSpPr>
        <p:spPr>
          <a:xfrm>
            <a:off x="5780282" y="4664499"/>
            <a:ext cx="2582" cy="24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Decision 34">
            <a:extLst>
              <a:ext uri="{FF2B5EF4-FFF2-40B4-BE49-F238E27FC236}">
                <a16:creationId xmlns:a16="http://schemas.microsoft.com/office/drawing/2014/main" id="{E6137016-DF4B-8435-98F6-83380966F65F}"/>
              </a:ext>
            </a:extLst>
          </p:cNvPr>
          <p:cNvSpPr/>
          <p:nvPr/>
        </p:nvSpPr>
        <p:spPr>
          <a:xfrm>
            <a:off x="3506486" y="3835022"/>
            <a:ext cx="454214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(num2&gt;num1) AND (num2&gt;num3)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A05701-097E-E42A-7181-5E621E2B1A3F}"/>
              </a:ext>
            </a:extLst>
          </p:cNvPr>
          <p:cNvCxnSpPr>
            <a:cxnSpLocks/>
            <a:stCxn id="7" idx="2"/>
            <a:endCxn id="35" idx="0"/>
          </p:cNvCxnSpPr>
          <p:nvPr/>
        </p:nvCxnSpPr>
        <p:spPr>
          <a:xfrm>
            <a:off x="5777556" y="3705897"/>
            <a:ext cx="0" cy="12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4BF0F73-FD9B-1049-569D-ADA89A020C04}"/>
              </a:ext>
            </a:extLst>
          </p:cNvPr>
          <p:cNvSpPr txBox="1"/>
          <p:nvPr/>
        </p:nvSpPr>
        <p:spPr>
          <a:xfrm>
            <a:off x="6030043" y="359487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DE521F-1C39-739C-E95A-3CA8EE3C5B02}"/>
              </a:ext>
            </a:extLst>
          </p:cNvPr>
          <p:cNvSpPr txBox="1"/>
          <p:nvPr/>
        </p:nvSpPr>
        <p:spPr>
          <a:xfrm>
            <a:off x="5945634" y="457418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BDEFE516-7B35-6644-BA94-373EC9DED0D7}"/>
              </a:ext>
            </a:extLst>
          </p:cNvPr>
          <p:cNvSpPr/>
          <p:nvPr/>
        </p:nvSpPr>
        <p:spPr>
          <a:xfrm>
            <a:off x="8533732" y="2763723"/>
            <a:ext cx="2047181" cy="89560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num1 is maximum</a:t>
            </a:r>
            <a:endParaRPr lang="en-BD" dirty="0"/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1F66A7F5-3450-0DB0-801F-5382D8C1AC5F}"/>
              </a:ext>
            </a:extLst>
          </p:cNvPr>
          <p:cNvSpPr/>
          <p:nvPr/>
        </p:nvSpPr>
        <p:spPr>
          <a:xfrm>
            <a:off x="8620189" y="3835022"/>
            <a:ext cx="1960723" cy="770250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num2 is maximum</a:t>
            </a:r>
            <a:endParaRPr lang="en-BD" dirty="0"/>
          </a:p>
        </p:txBody>
      </p:sp>
      <p:sp>
        <p:nvSpPr>
          <p:cNvPr id="24" name="Data 23">
            <a:extLst>
              <a:ext uri="{FF2B5EF4-FFF2-40B4-BE49-F238E27FC236}">
                <a16:creationId xmlns:a16="http://schemas.microsoft.com/office/drawing/2014/main" id="{AE41C843-AEB1-1112-8DEA-D3A2F45C6B71}"/>
              </a:ext>
            </a:extLst>
          </p:cNvPr>
          <p:cNvSpPr/>
          <p:nvPr/>
        </p:nvSpPr>
        <p:spPr>
          <a:xfrm>
            <a:off x="3438994" y="4922537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num3 is maximum</a:t>
            </a:r>
          </a:p>
        </p:txBody>
      </p:sp>
    </p:spTree>
    <p:extLst>
      <p:ext uri="{BB962C8B-B14F-4D97-AF65-F5344CB8AC3E}">
        <p14:creationId xmlns:p14="http://schemas.microsoft.com/office/powerpoint/2010/main" val="2261337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0EF2-131D-1FC5-E4A7-CAA7B455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 the maximum/minimum of three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7148-DD6B-1876-CCF6-3414D3080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788" y="1825625"/>
            <a:ext cx="7001692" cy="476676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num1, num2, num3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(num1&gt;num2) AND (num1&gt;num3)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num1 is maximum and end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(num2&gt;num1) AND (num2&gt;num3)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num2 is maximum and end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Otherwise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GB" dirty="0"/>
              <a:t>P</a:t>
            </a:r>
            <a:r>
              <a:rPr lang="en-BD" dirty="0"/>
              <a:t>rint num3 is maximum and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29587-8F75-EA8A-5ECA-9F96E1DA6805}"/>
              </a:ext>
            </a:extLst>
          </p:cNvPr>
          <p:cNvSpPr txBox="1"/>
          <p:nvPr/>
        </p:nvSpPr>
        <p:spPr>
          <a:xfrm>
            <a:off x="786899" y="1825625"/>
            <a:ext cx="189071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Algorithm:</a:t>
            </a:r>
          </a:p>
          <a:p>
            <a:endParaRPr lang="en-BD" u="sng" dirty="0"/>
          </a:p>
        </p:txBody>
      </p:sp>
    </p:spTree>
    <p:extLst>
      <p:ext uri="{BB962C8B-B14F-4D97-AF65-F5344CB8AC3E}">
        <p14:creationId xmlns:p14="http://schemas.microsoft.com/office/powerpoint/2010/main" val="3665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F6C8-AFB5-8FC1-19B9-E2D81724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find the maximum/minimum of three numbers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D94DC7-CC30-E168-6D04-4A13DD311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672" y="1793394"/>
            <a:ext cx="6494448" cy="4607406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76C83BA-1CC4-5B1A-F3D1-66B7EC67B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0" y="1793394"/>
            <a:ext cx="39370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1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A6B7-C5E9-65C1-9575-D328D6ED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year is leap year or not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0D301F-8F90-FC12-E8B3-48D040529893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2FE1DBC2-E76E-15A1-BD59-84E42884BE14}"/>
              </a:ext>
            </a:extLst>
          </p:cNvPr>
          <p:cNvSpPr/>
          <p:nvPr/>
        </p:nvSpPr>
        <p:spPr>
          <a:xfrm>
            <a:off x="3422468" y="2416509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year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9FD26ACA-8AAD-04FB-6E19-935ADAFFF225}"/>
              </a:ext>
            </a:extLst>
          </p:cNvPr>
          <p:cNvSpPr/>
          <p:nvPr/>
        </p:nvSpPr>
        <p:spPr>
          <a:xfrm>
            <a:off x="3500201" y="2902271"/>
            <a:ext cx="455471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(year%400)==0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B153D4-80D7-AE41-77B0-48BD2E123832}"/>
              </a:ext>
            </a:extLst>
          </p:cNvPr>
          <p:cNvSpPr/>
          <p:nvPr/>
        </p:nvSpPr>
        <p:spPr>
          <a:xfrm>
            <a:off x="5112432" y="5779267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91C4B6-EA51-B9CF-9610-DCD0D96A7978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78137" y="2279940"/>
            <a:ext cx="16526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A2FC58-EBF6-787E-36CD-CC7B35439CED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5777556" y="2749147"/>
            <a:ext cx="581" cy="15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8F3C8E-87F4-51E5-5C7C-715FE603A45F}"/>
              </a:ext>
            </a:extLst>
          </p:cNvPr>
          <p:cNvCxnSpPr>
            <a:cxnSpLocks/>
          </p:cNvCxnSpPr>
          <p:nvPr/>
        </p:nvCxnSpPr>
        <p:spPr>
          <a:xfrm flipV="1">
            <a:off x="8061392" y="3304228"/>
            <a:ext cx="696383" cy="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948D8C-B331-AB22-8775-AE6652A0FE9E}"/>
              </a:ext>
            </a:extLst>
          </p:cNvPr>
          <p:cNvSpPr txBox="1"/>
          <p:nvPr/>
        </p:nvSpPr>
        <p:spPr>
          <a:xfrm>
            <a:off x="8115763" y="385437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DBFA0-4A43-9328-44DF-9625288D9B72}"/>
              </a:ext>
            </a:extLst>
          </p:cNvPr>
          <p:cNvSpPr txBox="1"/>
          <p:nvPr/>
        </p:nvSpPr>
        <p:spPr>
          <a:xfrm>
            <a:off x="7999607" y="294188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64DC9E-3E2C-53BA-79BD-8DEEB504666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52660" y="5303659"/>
            <a:ext cx="3956" cy="47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1ACD0DC7-01D6-C71A-7532-566B5535C8F3}"/>
              </a:ext>
            </a:extLst>
          </p:cNvPr>
          <p:cNvCxnSpPr>
            <a:cxnSpLocks/>
          </p:cNvCxnSpPr>
          <p:nvPr/>
        </p:nvCxnSpPr>
        <p:spPr>
          <a:xfrm flipH="1">
            <a:off x="5744121" y="3304228"/>
            <a:ext cx="4587564" cy="2243132"/>
          </a:xfrm>
          <a:prstGeom prst="bentConnector3">
            <a:avLst>
              <a:gd name="adj1" fmla="val -4983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1BB6D1-D686-2AC0-4467-F342C59EA055}"/>
              </a:ext>
            </a:extLst>
          </p:cNvPr>
          <p:cNvCxnSpPr>
            <a:cxnSpLocks/>
          </p:cNvCxnSpPr>
          <p:nvPr/>
        </p:nvCxnSpPr>
        <p:spPr>
          <a:xfrm>
            <a:off x="10334949" y="4276987"/>
            <a:ext cx="245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6E6F63-8951-7A04-8B47-BBDD5AB33F8C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EE73FE-C7AD-74DE-5310-BE3CB328BDAE}"/>
              </a:ext>
            </a:extLst>
          </p:cNvPr>
          <p:cNvCxnSpPr>
            <a:cxnSpLocks/>
          </p:cNvCxnSpPr>
          <p:nvPr/>
        </p:nvCxnSpPr>
        <p:spPr>
          <a:xfrm flipV="1">
            <a:off x="8039717" y="4236555"/>
            <a:ext cx="722205" cy="1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048454-2662-BB20-81CD-281DB53F8AB2}"/>
              </a:ext>
            </a:extLst>
          </p:cNvPr>
          <p:cNvCxnSpPr>
            <a:cxnSpLocks/>
          </p:cNvCxnSpPr>
          <p:nvPr/>
        </p:nvCxnSpPr>
        <p:spPr>
          <a:xfrm>
            <a:off x="5780282" y="4664499"/>
            <a:ext cx="2582" cy="24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Decision 21">
            <a:extLst>
              <a:ext uri="{FF2B5EF4-FFF2-40B4-BE49-F238E27FC236}">
                <a16:creationId xmlns:a16="http://schemas.microsoft.com/office/drawing/2014/main" id="{55ACCFE9-63AF-E596-1DD4-C913B9E776A8}"/>
              </a:ext>
            </a:extLst>
          </p:cNvPr>
          <p:cNvSpPr/>
          <p:nvPr/>
        </p:nvSpPr>
        <p:spPr>
          <a:xfrm>
            <a:off x="3506486" y="3835022"/>
            <a:ext cx="454214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(year%4)==0 AND (year%100)!=0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6FAB8C-1ED8-BD76-6DF6-83B3536B752F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5777556" y="3705897"/>
            <a:ext cx="0" cy="12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37A03D-EAB0-8BF0-0468-06BE06EF1949}"/>
              </a:ext>
            </a:extLst>
          </p:cNvPr>
          <p:cNvSpPr txBox="1"/>
          <p:nvPr/>
        </p:nvSpPr>
        <p:spPr>
          <a:xfrm>
            <a:off x="6030043" y="359487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DEFBC-B0B1-41BC-0A7A-E5858AFCD2EE}"/>
              </a:ext>
            </a:extLst>
          </p:cNvPr>
          <p:cNvSpPr txBox="1"/>
          <p:nvPr/>
        </p:nvSpPr>
        <p:spPr>
          <a:xfrm>
            <a:off x="5945634" y="457418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41964585-A9DD-4CF2-8F8F-872B3D3B26D7}"/>
              </a:ext>
            </a:extLst>
          </p:cNvPr>
          <p:cNvSpPr/>
          <p:nvPr/>
        </p:nvSpPr>
        <p:spPr>
          <a:xfrm>
            <a:off x="8594582" y="3064155"/>
            <a:ext cx="1937506" cy="479857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leap year</a:t>
            </a:r>
            <a:endParaRPr lang="en-BD" dirty="0"/>
          </a:p>
        </p:txBody>
      </p:sp>
      <p:sp>
        <p:nvSpPr>
          <p:cNvPr id="26" name="Data 25">
            <a:extLst>
              <a:ext uri="{FF2B5EF4-FFF2-40B4-BE49-F238E27FC236}">
                <a16:creationId xmlns:a16="http://schemas.microsoft.com/office/drawing/2014/main" id="{E8E4514B-D633-A010-1376-4F765317C0F9}"/>
              </a:ext>
            </a:extLst>
          </p:cNvPr>
          <p:cNvSpPr/>
          <p:nvPr/>
        </p:nvSpPr>
        <p:spPr>
          <a:xfrm>
            <a:off x="8601789" y="4021017"/>
            <a:ext cx="1923091" cy="49943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leap year</a:t>
            </a:r>
            <a:endParaRPr lang="en-BD" dirty="0"/>
          </a:p>
        </p:txBody>
      </p:sp>
      <p:sp>
        <p:nvSpPr>
          <p:cNvPr id="27" name="Data 26">
            <a:extLst>
              <a:ext uri="{FF2B5EF4-FFF2-40B4-BE49-F238E27FC236}">
                <a16:creationId xmlns:a16="http://schemas.microsoft.com/office/drawing/2014/main" id="{1B07EB9E-410F-5B52-B999-F7B86078A53F}"/>
              </a:ext>
            </a:extLst>
          </p:cNvPr>
          <p:cNvSpPr/>
          <p:nvPr/>
        </p:nvSpPr>
        <p:spPr>
          <a:xfrm>
            <a:off x="4808803" y="4914146"/>
            <a:ext cx="1937506" cy="479857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not leap year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598359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716B-884D-CE50-5F99-809050F6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year is leap year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D404-15B5-20A2-6D63-03A419F4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806" y="1690688"/>
            <a:ext cx="8253548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year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(year%400)==0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leap year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(year%4)==0 AND (year%100)!=0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leap year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print not leap year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</a:t>
            </a:r>
            <a:r>
              <a:rPr lang="en-BD" dirty="0"/>
              <a:t>nd </a:t>
            </a:r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877A8-14B6-B1A7-E4E3-CD0E4F653C48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2157197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8393-1B40-7607-A605-3272D3D3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year is leap year or not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196FFD8-B04D-49FA-97B8-30DF2DCE1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174" y="1778491"/>
            <a:ext cx="5990954" cy="4714384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AF1B702-7819-9E3B-6DEB-B599ADC81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8" y="1778491"/>
            <a:ext cx="4415672" cy="308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58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C79F-A98C-0C99-0A8D-CEE21C48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letter is capital or not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6E95B6-12D1-EDB5-583C-BF93CE63BDA5}"/>
              </a:ext>
            </a:extLst>
          </p:cNvPr>
          <p:cNvSpPr/>
          <p:nvPr/>
        </p:nvSpPr>
        <p:spPr>
          <a:xfrm>
            <a:off x="5122718" y="1932709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CEF5A2D5-FB68-6670-0D5E-65C1DF394674}"/>
              </a:ext>
            </a:extLst>
          </p:cNvPr>
          <p:cNvSpPr/>
          <p:nvPr/>
        </p:nvSpPr>
        <p:spPr>
          <a:xfrm>
            <a:off x="3422468" y="2416509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ch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F8D32204-47ED-E371-819A-A97612BE2F7C}"/>
              </a:ext>
            </a:extLst>
          </p:cNvPr>
          <p:cNvSpPr/>
          <p:nvPr/>
        </p:nvSpPr>
        <p:spPr>
          <a:xfrm>
            <a:off x="3500201" y="2902271"/>
            <a:ext cx="455471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(ch&gt;=‘A’) AND (ch&lt;=‘Z’)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6A3475-9858-A38A-66F7-43E4B94BD68D}"/>
              </a:ext>
            </a:extLst>
          </p:cNvPr>
          <p:cNvSpPr/>
          <p:nvPr/>
        </p:nvSpPr>
        <p:spPr>
          <a:xfrm>
            <a:off x="5112432" y="5779267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D8FBBD-42C9-D12E-6836-FE07744F3E9D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flipH="1">
            <a:off x="5778137" y="2279940"/>
            <a:ext cx="16526" cy="1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274EE2-D3D7-FF39-95A3-6CD68E1D3899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5777556" y="2749147"/>
            <a:ext cx="581" cy="15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188D1D-ECBC-A87D-5EA5-29115B8EBC64}"/>
              </a:ext>
            </a:extLst>
          </p:cNvPr>
          <p:cNvCxnSpPr>
            <a:cxnSpLocks/>
          </p:cNvCxnSpPr>
          <p:nvPr/>
        </p:nvCxnSpPr>
        <p:spPr>
          <a:xfrm flipV="1">
            <a:off x="8061392" y="3304228"/>
            <a:ext cx="696383" cy="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A9882A-6655-BC09-69B9-670AED0CC9A9}"/>
              </a:ext>
            </a:extLst>
          </p:cNvPr>
          <p:cNvSpPr txBox="1"/>
          <p:nvPr/>
        </p:nvSpPr>
        <p:spPr>
          <a:xfrm>
            <a:off x="8115763" y="385437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C9B48-E04B-81E3-B8A8-065FECF915D7}"/>
              </a:ext>
            </a:extLst>
          </p:cNvPr>
          <p:cNvSpPr txBox="1"/>
          <p:nvPr/>
        </p:nvSpPr>
        <p:spPr>
          <a:xfrm>
            <a:off x="7999607" y="294188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9FB235-D0A8-9FBE-6A98-900A9AA68DF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52660" y="5303659"/>
            <a:ext cx="3956" cy="47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D33D25E8-EB20-560A-ED6F-147E17716A5D}"/>
              </a:ext>
            </a:extLst>
          </p:cNvPr>
          <p:cNvCxnSpPr>
            <a:cxnSpLocks/>
          </p:cNvCxnSpPr>
          <p:nvPr/>
        </p:nvCxnSpPr>
        <p:spPr>
          <a:xfrm flipH="1">
            <a:off x="5744121" y="3304228"/>
            <a:ext cx="4587564" cy="2243132"/>
          </a:xfrm>
          <a:prstGeom prst="bentConnector3">
            <a:avLst>
              <a:gd name="adj1" fmla="val -4983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88D08D-FBDE-40A3-105A-0101F7AA80CF}"/>
              </a:ext>
            </a:extLst>
          </p:cNvPr>
          <p:cNvCxnSpPr>
            <a:cxnSpLocks/>
          </p:cNvCxnSpPr>
          <p:nvPr/>
        </p:nvCxnSpPr>
        <p:spPr>
          <a:xfrm>
            <a:off x="10334949" y="4276987"/>
            <a:ext cx="245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02CD0B-7DA8-5101-C7DE-9EED04819417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8DFA5D-8347-37DF-36E0-E9ECE1688460}"/>
              </a:ext>
            </a:extLst>
          </p:cNvPr>
          <p:cNvCxnSpPr>
            <a:cxnSpLocks/>
          </p:cNvCxnSpPr>
          <p:nvPr/>
        </p:nvCxnSpPr>
        <p:spPr>
          <a:xfrm flipV="1">
            <a:off x="8039717" y="4236555"/>
            <a:ext cx="722205" cy="1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8545AB-B2CF-EB7E-D3DC-3A8712A5FEF5}"/>
              </a:ext>
            </a:extLst>
          </p:cNvPr>
          <p:cNvCxnSpPr>
            <a:cxnSpLocks/>
          </p:cNvCxnSpPr>
          <p:nvPr/>
        </p:nvCxnSpPr>
        <p:spPr>
          <a:xfrm>
            <a:off x="5780282" y="4664499"/>
            <a:ext cx="2582" cy="24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Decision 21">
            <a:extLst>
              <a:ext uri="{FF2B5EF4-FFF2-40B4-BE49-F238E27FC236}">
                <a16:creationId xmlns:a16="http://schemas.microsoft.com/office/drawing/2014/main" id="{974A0A71-7D43-A3A2-E47F-CE9F50E1A23B}"/>
              </a:ext>
            </a:extLst>
          </p:cNvPr>
          <p:cNvSpPr/>
          <p:nvPr/>
        </p:nvSpPr>
        <p:spPr>
          <a:xfrm>
            <a:off x="3506486" y="3835022"/>
            <a:ext cx="4542140" cy="8036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(ch&gt;=‘a’) AND (ch&lt;=‘z’)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9DA6CC-2419-D34B-5088-4D23E184F2F4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5777556" y="3705897"/>
            <a:ext cx="0" cy="12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96BB1B-8CF5-B20A-8761-63CE821B4D77}"/>
              </a:ext>
            </a:extLst>
          </p:cNvPr>
          <p:cNvSpPr txBox="1"/>
          <p:nvPr/>
        </p:nvSpPr>
        <p:spPr>
          <a:xfrm>
            <a:off x="6030043" y="359487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FF4B1A-419D-3287-216A-D8A88E84EF74}"/>
              </a:ext>
            </a:extLst>
          </p:cNvPr>
          <p:cNvSpPr txBox="1"/>
          <p:nvPr/>
        </p:nvSpPr>
        <p:spPr>
          <a:xfrm>
            <a:off x="5945634" y="457418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304ACC7D-04CA-6A26-4D20-38BC4D1CA143}"/>
              </a:ext>
            </a:extLst>
          </p:cNvPr>
          <p:cNvSpPr/>
          <p:nvPr/>
        </p:nvSpPr>
        <p:spPr>
          <a:xfrm>
            <a:off x="8682179" y="2778298"/>
            <a:ext cx="1967348" cy="75216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capital letter</a:t>
            </a:r>
            <a:endParaRPr lang="en-BD" dirty="0"/>
          </a:p>
        </p:txBody>
      </p:sp>
      <p:sp>
        <p:nvSpPr>
          <p:cNvPr id="26" name="Data 25">
            <a:extLst>
              <a:ext uri="{FF2B5EF4-FFF2-40B4-BE49-F238E27FC236}">
                <a16:creationId xmlns:a16="http://schemas.microsoft.com/office/drawing/2014/main" id="{F6D5CA8B-5ED3-1A29-60DE-B6C6646BCE68}"/>
              </a:ext>
            </a:extLst>
          </p:cNvPr>
          <p:cNvSpPr/>
          <p:nvPr/>
        </p:nvSpPr>
        <p:spPr>
          <a:xfrm>
            <a:off x="8563130" y="3873498"/>
            <a:ext cx="1967348" cy="75216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small letter</a:t>
            </a:r>
            <a:endParaRPr lang="en-BD" dirty="0"/>
          </a:p>
        </p:txBody>
      </p:sp>
      <p:sp>
        <p:nvSpPr>
          <p:cNvPr id="27" name="Data 26">
            <a:extLst>
              <a:ext uri="{FF2B5EF4-FFF2-40B4-BE49-F238E27FC236}">
                <a16:creationId xmlns:a16="http://schemas.microsoft.com/office/drawing/2014/main" id="{487B245E-292B-A5AA-FF4B-CBACE8AC0718}"/>
              </a:ext>
            </a:extLst>
          </p:cNvPr>
          <p:cNvSpPr/>
          <p:nvPr/>
        </p:nvSpPr>
        <p:spPr>
          <a:xfrm>
            <a:off x="3905491" y="4943521"/>
            <a:ext cx="3628750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not a letter</a:t>
            </a:r>
          </a:p>
        </p:txBody>
      </p:sp>
    </p:spTree>
    <p:extLst>
      <p:ext uri="{BB962C8B-B14F-4D97-AF65-F5344CB8AC3E}">
        <p14:creationId xmlns:p14="http://schemas.microsoft.com/office/powerpoint/2010/main" val="2725112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2EE8-4D8E-16F9-CE69-E48E603C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letter is capital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3B3A-C1C0-1EA5-3074-6DC64839F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0" y="1825625"/>
            <a:ext cx="7452360" cy="459259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ch (ch is character)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(ch&gt;=‘A’) AND (ch&lt;=‘Z’)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capital letter and end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(ch&gt;=‘a’) AND (ch&lt;=‘z’)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small letter and end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Otherwise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GB" dirty="0"/>
              <a:t>P</a:t>
            </a:r>
            <a:r>
              <a:rPr lang="en-BD" dirty="0"/>
              <a:t>rint not a letter and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B7E29-CA9E-BFA2-71A3-2B71BCC1E16F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94418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5EFA-DFD8-3274-5199-17FCDCF2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letter is capital or not</a:t>
            </a:r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86DED95-1420-6B0F-FA96-253F7A333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905" y="1690687"/>
            <a:ext cx="6400671" cy="4910409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9C9C327-F276-A2E8-FE42-4965DBAC8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576" y="1690686"/>
            <a:ext cx="39751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84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E538-AB63-8558-CAF8-35A04D0D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letter is vowel or consonant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A1F2B1-336D-EF08-3BCC-1AACFF915A3A}"/>
              </a:ext>
            </a:extLst>
          </p:cNvPr>
          <p:cNvSpPr/>
          <p:nvPr/>
        </p:nvSpPr>
        <p:spPr>
          <a:xfrm>
            <a:off x="5149716" y="1879416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27" name="Data 26">
            <a:extLst>
              <a:ext uri="{FF2B5EF4-FFF2-40B4-BE49-F238E27FC236}">
                <a16:creationId xmlns:a16="http://schemas.microsoft.com/office/drawing/2014/main" id="{87D64B89-8374-92FA-E44C-5A6B8A3B8DF4}"/>
              </a:ext>
            </a:extLst>
          </p:cNvPr>
          <p:cNvSpPr/>
          <p:nvPr/>
        </p:nvSpPr>
        <p:spPr>
          <a:xfrm>
            <a:off x="3465992" y="2373571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ch</a:t>
            </a:r>
          </a:p>
        </p:txBody>
      </p:sp>
      <p:sp>
        <p:nvSpPr>
          <p:cNvPr id="28" name="Decision 27">
            <a:extLst>
              <a:ext uri="{FF2B5EF4-FFF2-40B4-BE49-F238E27FC236}">
                <a16:creationId xmlns:a16="http://schemas.microsoft.com/office/drawing/2014/main" id="{538F05D5-4DF1-7224-8719-BC4D62BE17DE}"/>
              </a:ext>
            </a:extLst>
          </p:cNvPr>
          <p:cNvSpPr/>
          <p:nvPr/>
        </p:nvSpPr>
        <p:spPr>
          <a:xfrm>
            <a:off x="2502938" y="2907786"/>
            <a:ext cx="6658479" cy="18337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s ((ch==‘A’) OR (ch==‘a) OR (ch==‘E’) OR (ch==‘e’) OR (ch==‘I’) OR (ch==‘</a:t>
            </a:r>
            <a:r>
              <a:rPr lang="en-GB" dirty="0" err="1"/>
              <a:t>i</a:t>
            </a:r>
            <a:r>
              <a:rPr lang="en-GB" dirty="0"/>
              <a:t>’) OR (</a:t>
            </a:r>
            <a:r>
              <a:rPr lang="en-GB" dirty="0" err="1"/>
              <a:t>ch</a:t>
            </a:r>
            <a:r>
              <a:rPr lang="en-GB" dirty="0"/>
              <a:t>==‘O’) OR (</a:t>
            </a:r>
            <a:r>
              <a:rPr lang="en-GB" dirty="0" err="1"/>
              <a:t>ch</a:t>
            </a:r>
            <a:r>
              <a:rPr lang="en-GB" dirty="0"/>
              <a:t>==‘o’) OR (</a:t>
            </a:r>
            <a:r>
              <a:rPr lang="en-GB" dirty="0" err="1"/>
              <a:t>ch</a:t>
            </a:r>
            <a:r>
              <a:rPr lang="en-GB" dirty="0"/>
              <a:t>==‘U’)</a:t>
            </a:r>
            <a:r>
              <a:rPr lang="en-BD" dirty="0"/>
              <a:t> OR (ch==‘u’))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EF05B52-DEBD-B8A2-3498-48BC33F60EFF}"/>
              </a:ext>
            </a:extLst>
          </p:cNvPr>
          <p:cNvSpPr/>
          <p:nvPr/>
        </p:nvSpPr>
        <p:spPr>
          <a:xfrm>
            <a:off x="5205238" y="5808577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1B44F4-B5CE-6F0C-F274-E30F73F0CB40}"/>
              </a:ext>
            </a:extLst>
          </p:cNvPr>
          <p:cNvCxnSpPr>
            <a:cxnSpLocks/>
            <a:stCxn id="26" idx="4"/>
            <a:endCxn id="27" idx="1"/>
          </p:cNvCxnSpPr>
          <p:nvPr/>
        </p:nvCxnSpPr>
        <p:spPr>
          <a:xfrm>
            <a:off x="5821661" y="2226647"/>
            <a:ext cx="0" cy="14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8CD6B9-D721-02D4-A3F2-B39A07BE1F86}"/>
              </a:ext>
            </a:extLst>
          </p:cNvPr>
          <p:cNvCxnSpPr>
            <a:cxnSpLocks/>
            <a:stCxn id="27" idx="4"/>
            <a:endCxn id="28" idx="0"/>
          </p:cNvCxnSpPr>
          <p:nvPr/>
        </p:nvCxnSpPr>
        <p:spPr>
          <a:xfrm>
            <a:off x="5821661" y="2706209"/>
            <a:ext cx="10517" cy="201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F75733-C865-7636-B05D-7EED2BCAA659}"/>
              </a:ext>
            </a:extLst>
          </p:cNvPr>
          <p:cNvCxnSpPr>
            <a:cxnSpLocks/>
          </p:cNvCxnSpPr>
          <p:nvPr/>
        </p:nvCxnSpPr>
        <p:spPr>
          <a:xfrm flipV="1">
            <a:off x="9161417" y="3821238"/>
            <a:ext cx="696383" cy="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5434FF-862F-D67B-BC54-20CF88FDF3B8}"/>
              </a:ext>
            </a:extLst>
          </p:cNvPr>
          <p:cNvSpPr txBox="1"/>
          <p:nvPr/>
        </p:nvSpPr>
        <p:spPr>
          <a:xfrm>
            <a:off x="9161417" y="3826353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A2E72E-A669-4466-1A4D-F398BADB1348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5849422" y="5405426"/>
            <a:ext cx="3909" cy="40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BCAD5CD-C4AA-E451-A2DB-8B7EE5CFEFC8}"/>
              </a:ext>
            </a:extLst>
          </p:cNvPr>
          <p:cNvCxnSpPr>
            <a:cxnSpLocks/>
            <a:stCxn id="5" idx="5"/>
          </p:cNvCxnSpPr>
          <p:nvPr/>
        </p:nvCxnSpPr>
        <p:spPr>
          <a:xfrm flipH="1">
            <a:off x="5821659" y="3824050"/>
            <a:ext cx="5108991" cy="1782951"/>
          </a:xfrm>
          <a:prstGeom prst="bentConnector3">
            <a:avLst>
              <a:gd name="adj1" fmla="val -713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58A1CD6-05D2-655E-0F80-205BAAF1EBAD}"/>
              </a:ext>
            </a:extLst>
          </p:cNvPr>
          <p:cNvSpPr txBox="1"/>
          <p:nvPr/>
        </p:nvSpPr>
        <p:spPr>
          <a:xfrm>
            <a:off x="946002" y="1902734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4D28E7-6734-FCA8-21FF-076A41D638EF}"/>
              </a:ext>
            </a:extLst>
          </p:cNvPr>
          <p:cNvSpPr txBox="1"/>
          <p:nvPr/>
        </p:nvSpPr>
        <p:spPr>
          <a:xfrm>
            <a:off x="5897813" y="465734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243ADDB-A767-4EDC-A824-A57D79F72B40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821660" y="4741570"/>
            <a:ext cx="10518" cy="27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Data 4">
            <a:extLst>
              <a:ext uri="{FF2B5EF4-FFF2-40B4-BE49-F238E27FC236}">
                <a16:creationId xmlns:a16="http://schemas.microsoft.com/office/drawing/2014/main" id="{41A86DB6-9D9F-9504-3B3C-3A0E0D7E9F30}"/>
              </a:ext>
            </a:extLst>
          </p:cNvPr>
          <p:cNvSpPr/>
          <p:nvPr/>
        </p:nvSpPr>
        <p:spPr>
          <a:xfrm>
            <a:off x="9708679" y="3551577"/>
            <a:ext cx="1357746" cy="54494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vowel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DFE7A941-116B-306D-93E7-38BB2EA70CA2}"/>
              </a:ext>
            </a:extLst>
          </p:cNvPr>
          <p:cNvSpPr/>
          <p:nvPr/>
        </p:nvSpPr>
        <p:spPr>
          <a:xfrm>
            <a:off x="4611509" y="5009331"/>
            <a:ext cx="2412237" cy="54494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consonant</a:t>
            </a:r>
          </a:p>
        </p:txBody>
      </p:sp>
    </p:spTree>
    <p:extLst>
      <p:ext uri="{BB962C8B-B14F-4D97-AF65-F5344CB8AC3E}">
        <p14:creationId xmlns:p14="http://schemas.microsoft.com/office/powerpoint/2010/main" val="2464227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ABA0-831D-D22F-2DCB-14C1E3FF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Check if a letter is vowel or consonant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A99B6-845E-C1FC-8086-824D41C0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370" y="1825625"/>
            <a:ext cx="8436429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ch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</a:t>
            </a:r>
            <a:r>
              <a:rPr lang="en-BD" dirty="0"/>
              <a:t>s (ch==‘A’) OR (ch==‘a) OR (ch==‘E’) OR (ch==‘e’) OR (ch==‘I’) OR (ch==‘</a:t>
            </a:r>
            <a:r>
              <a:rPr lang="en-GB" dirty="0" err="1"/>
              <a:t>i</a:t>
            </a:r>
            <a:r>
              <a:rPr lang="en-GB" dirty="0"/>
              <a:t>’) OR (</a:t>
            </a:r>
            <a:r>
              <a:rPr lang="en-GB" dirty="0" err="1"/>
              <a:t>ch</a:t>
            </a:r>
            <a:r>
              <a:rPr lang="en-GB" dirty="0"/>
              <a:t>==‘O’) OR (</a:t>
            </a:r>
            <a:r>
              <a:rPr lang="en-GB" dirty="0" err="1"/>
              <a:t>ch</a:t>
            </a:r>
            <a:r>
              <a:rPr lang="en-GB" dirty="0"/>
              <a:t>==‘o’) OR (</a:t>
            </a:r>
            <a:r>
              <a:rPr lang="en-GB" dirty="0" err="1"/>
              <a:t>ch</a:t>
            </a:r>
            <a:r>
              <a:rPr lang="en-GB" dirty="0"/>
              <a:t>==‘U’)</a:t>
            </a:r>
            <a:r>
              <a:rPr lang="en-BD" dirty="0"/>
              <a:t> OR (ch==‘u’):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vowel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print consonat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End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1C6E3-1C4A-F1B0-7234-6982F3CC44BB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2104843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E431-3831-9A65-1E74-C3807070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letter is vowel or consonant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5257CFE-58FA-D35A-027E-82CC70C2D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55956"/>
            <a:ext cx="7542229" cy="4578855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39E0EB1-2272-BDBC-148A-CBCB787E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29" y="1755956"/>
            <a:ext cx="2973371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FCFD-59B9-371C-0554-86ADB84D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84" y="203794"/>
            <a:ext cx="10515600" cy="1325563"/>
          </a:xfrm>
        </p:spPr>
        <p:txBody>
          <a:bodyPr/>
          <a:lstStyle/>
          <a:p>
            <a:r>
              <a:rPr lang="en-BD" dirty="0"/>
              <a:t>Decide pass or fail from obtained marks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AFBFBA-DB0F-F3A0-0E3D-424C10639E23}"/>
              </a:ext>
            </a:extLst>
          </p:cNvPr>
          <p:cNvSpPr/>
          <p:nvPr/>
        </p:nvSpPr>
        <p:spPr>
          <a:xfrm>
            <a:off x="5010379" y="1975210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11E1BA89-16E1-DB78-B2CA-0392A4D89A7F}"/>
              </a:ext>
            </a:extLst>
          </p:cNvPr>
          <p:cNvSpPr/>
          <p:nvPr/>
        </p:nvSpPr>
        <p:spPr>
          <a:xfrm>
            <a:off x="3326655" y="2469365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marks</a:t>
            </a:r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BC9051F2-D23B-DAC1-C6B6-499E7514BA8E}"/>
              </a:ext>
            </a:extLst>
          </p:cNvPr>
          <p:cNvSpPr/>
          <p:nvPr/>
        </p:nvSpPr>
        <p:spPr>
          <a:xfrm>
            <a:off x="4032069" y="2998064"/>
            <a:ext cx="3291839" cy="67031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marks&gt;=33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D4BB5B-FCE6-EB2B-646A-A633DBBEE390}"/>
              </a:ext>
            </a:extLst>
          </p:cNvPr>
          <p:cNvSpPr/>
          <p:nvPr/>
        </p:nvSpPr>
        <p:spPr>
          <a:xfrm>
            <a:off x="5033804" y="4753134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D7CF9B-7FE1-E2C0-7FA0-959DB45A2420}"/>
              </a:ext>
            </a:extLst>
          </p:cNvPr>
          <p:cNvCxnSpPr>
            <a:cxnSpLocks/>
            <a:stCxn id="4" idx="4"/>
            <a:endCxn id="5" idx="1"/>
          </p:cNvCxnSpPr>
          <p:nvPr/>
        </p:nvCxnSpPr>
        <p:spPr>
          <a:xfrm>
            <a:off x="5682324" y="2322441"/>
            <a:ext cx="0" cy="14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C1380B-696E-7083-028B-74CE5C36C58A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 flipH="1">
            <a:off x="5677989" y="2802003"/>
            <a:ext cx="4335" cy="196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4798CF-C942-2818-0C91-D0F49BAB24B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323908" y="3318588"/>
            <a:ext cx="639797" cy="1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0A621-C442-8504-B88E-F9589E8A823A}"/>
              </a:ext>
            </a:extLst>
          </p:cNvPr>
          <p:cNvSpPr txBox="1"/>
          <p:nvPr/>
        </p:nvSpPr>
        <p:spPr>
          <a:xfrm>
            <a:off x="7212113" y="295572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54A96-8D9D-F4FF-EADB-60E5E7668AC4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677988" y="4349983"/>
            <a:ext cx="3909" cy="40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2F96888B-FF94-2286-3A44-3089F20E22A6}"/>
              </a:ext>
            </a:extLst>
          </p:cNvPr>
          <p:cNvCxnSpPr>
            <a:cxnSpLocks/>
            <a:stCxn id="3" idx="5"/>
          </p:cNvCxnSpPr>
          <p:nvPr/>
        </p:nvCxnSpPr>
        <p:spPr>
          <a:xfrm flipH="1">
            <a:off x="5665371" y="3352988"/>
            <a:ext cx="3373201" cy="1190906"/>
          </a:xfrm>
          <a:prstGeom prst="bentConnector3">
            <a:avLst>
              <a:gd name="adj1" fmla="val -1080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2063DB-6537-0658-3201-AA415A93DD02}"/>
              </a:ext>
            </a:extLst>
          </p:cNvPr>
          <p:cNvSpPr txBox="1"/>
          <p:nvPr/>
        </p:nvSpPr>
        <p:spPr>
          <a:xfrm>
            <a:off x="806665" y="1998528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456F7-B7E3-DEB7-B11E-2276DC371325}"/>
              </a:ext>
            </a:extLst>
          </p:cNvPr>
          <p:cNvSpPr txBox="1"/>
          <p:nvPr/>
        </p:nvSpPr>
        <p:spPr>
          <a:xfrm>
            <a:off x="5665371" y="36391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8FF376-6D08-46E0-B85B-2728397F56E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677988" y="3668378"/>
            <a:ext cx="1" cy="30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Data 2">
            <a:extLst>
              <a:ext uri="{FF2B5EF4-FFF2-40B4-BE49-F238E27FC236}">
                <a16:creationId xmlns:a16="http://schemas.microsoft.com/office/drawing/2014/main" id="{FEF9C1D9-4949-7D1E-E213-858B48FE287F}"/>
              </a:ext>
            </a:extLst>
          </p:cNvPr>
          <p:cNvSpPr/>
          <p:nvPr/>
        </p:nvSpPr>
        <p:spPr>
          <a:xfrm>
            <a:off x="7816601" y="3080515"/>
            <a:ext cx="1357746" cy="54494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pass</a:t>
            </a:r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907F4CF8-553D-04A1-A7EF-0BBBB1631498}"/>
              </a:ext>
            </a:extLst>
          </p:cNvPr>
          <p:cNvSpPr/>
          <p:nvPr/>
        </p:nvSpPr>
        <p:spPr>
          <a:xfrm>
            <a:off x="4442695" y="3971273"/>
            <a:ext cx="2392209" cy="44178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fail</a:t>
            </a:r>
          </a:p>
        </p:txBody>
      </p:sp>
    </p:spTree>
    <p:extLst>
      <p:ext uri="{BB962C8B-B14F-4D97-AF65-F5344CB8AC3E}">
        <p14:creationId xmlns:p14="http://schemas.microsoft.com/office/powerpoint/2010/main" val="2709358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AFC2-DE3A-D4DE-F87C-FC58501D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Decide pass or fail from obtained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4C434-274C-80CE-9CED-18AF1160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308" y="1825625"/>
            <a:ext cx="7687491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marks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marks&gt;=33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Yes, print pass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BD" dirty="0"/>
              <a:t>No, print fail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End</a:t>
            </a:r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41C50-DC99-9836-A883-B70342A97247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976769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35F2-BC6F-156D-7E0B-E3075120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decide pass or fail from obtained marks</a:t>
            </a:r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6A0563A-95FB-3A7C-F1FC-DB0E4AD52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499" y="1869167"/>
            <a:ext cx="6016191" cy="4401003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19811A4-512B-882F-0B01-817C4D2C3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690" y="1869167"/>
            <a:ext cx="4204811" cy="262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65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E0ED-4C2D-090C-25E5-59D3868C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Determine the letter grade from the obtained marks.</a:t>
            </a:r>
            <a:endParaRPr lang="en-B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D59440-0FCE-64CC-EE8A-29BE3FE1D8DE}"/>
              </a:ext>
            </a:extLst>
          </p:cNvPr>
          <p:cNvSpPr/>
          <p:nvPr/>
        </p:nvSpPr>
        <p:spPr>
          <a:xfrm>
            <a:off x="5010379" y="1975210"/>
            <a:ext cx="1343890" cy="3472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ADE970A2-A149-1105-E2CF-7FFFBF181D63}"/>
              </a:ext>
            </a:extLst>
          </p:cNvPr>
          <p:cNvSpPr/>
          <p:nvPr/>
        </p:nvSpPr>
        <p:spPr>
          <a:xfrm>
            <a:off x="3326655" y="2421509"/>
            <a:ext cx="4711337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marks</a:t>
            </a:r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F65F8DD2-1C9D-77B6-5B1C-721C00D63449}"/>
              </a:ext>
            </a:extLst>
          </p:cNvPr>
          <p:cNvSpPr/>
          <p:nvPr/>
        </p:nvSpPr>
        <p:spPr>
          <a:xfrm>
            <a:off x="4032068" y="2856522"/>
            <a:ext cx="3291839" cy="67031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marks&gt;100 OR  marks&lt;0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D8003D-33F6-211C-E380-7D49BB10B2BD}"/>
              </a:ext>
            </a:extLst>
          </p:cNvPr>
          <p:cNvSpPr/>
          <p:nvPr/>
        </p:nvSpPr>
        <p:spPr>
          <a:xfrm>
            <a:off x="5031482" y="6396980"/>
            <a:ext cx="1288368" cy="4004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C61062-3960-61B1-7C6F-3CAF8B71F30A}"/>
              </a:ext>
            </a:extLst>
          </p:cNvPr>
          <p:cNvCxnSpPr>
            <a:cxnSpLocks/>
            <a:stCxn id="4" idx="4"/>
            <a:endCxn id="5" idx="1"/>
          </p:cNvCxnSpPr>
          <p:nvPr/>
        </p:nvCxnSpPr>
        <p:spPr>
          <a:xfrm>
            <a:off x="5682324" y="2322441"/>
            <a:ext cx="0" cy="99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D19F16-90F4-A206-B7ED-3E61039372B6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 flipH="1">
            <a:off x="5677988" y="2754147"/>
            <a:ext cx="4336" cy="102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644497-2FEC-2DD9-38A9-AB857D9B493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323907" y="3177046"/>
            <a:ext cx="639797" cy="1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9439BB-DEC8-4214-5E60-42F8FE72221D}"/>
              </a:ext>
            </a:extLst>
          </p:cNvPr>
          <p:cNvSpPr txBox="1"/>
          <p:nvPr/>
        </p:nvSpPr>
        <p:spPr>
          <a:xfrm>
            <a:off x="7212113" y="295572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1EF015-806D-2FB3-0501-E6816C4468CA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675666" y="6092484"/>
            <a:ext cx="2321" cy="30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A0AB3E-1FBF-C1F5-984B-A23F466E6DC9}"/>
              </a:ext>
            </a:extLst>
          </p:cNvPr>
          <p:cNvSpPr txBox="1"/>
          <p:nvPr/>
        </p:nvSpPr>
        <p:spPr>
          <a:xfrm>
            <a:off x="806665" y="1998528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C4881-007E-021C-AD2A-2FBFF2B99F4A}"/>
              </a:ext>
            </a:extLst>
          </p:cNvPr>
          <p:cNvSpPr txBox="1"/>
          <p:nvPr/>
        </p:nvSpPr>
        <p:spPr>
          <a:xfrm>
            <a:off x="5977108" y="3403977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154AD9-7A46-4429-023D-8FD7CE06CDD4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 flipH="1">
            <a:off x="5677987" y="3526836"/>
            <a:ext cx="1" cy="13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Decision 19">
            <a:extLst>
              <a:ext uri="{FF2B5EF4-FFF2-40B4-BE49-F238E27FC236}">
                <a16:creationId xmlns:a16="http://schemas.microsoft.com/office/drawing/2014/main" id="{DB00C8E7-D7D3-86CC-F5FB-1053261B459A}"/>
              </a:ext>
            </a:extLst>
          </p:cNvPr>
          <p:cNvSpPr/>
          <p:nvPr/>
        </p:nvSpPr>
        <p:spPr>
          <a:xfrm>
            <a:off x="3805199" y="3664154"/>
            <a:ext cx="3745576" cy="79650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marks&gt;=100 AND  marks&lt;=80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4765CACF-55D5-4744-EE27-4CA9BFF9F5B8}"/>
              </a:ext>
            </a:extLst>
          </p:cNvPr>
          <p:cNvSpPr/>
          <p:nvPr/>
        </p:nvSpPr>
        <p:spPr>
          <a:xfrm>
            <a:off x="3805199" y="4791259"/>
            <a:ext cx="3745576" cy="79650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marks&gt;=40 AND  marks&lt;=44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48772A-AF66-6E12-68E8-02AA8516CD96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5677987" y="4460655"/>
            <a:ext cx="0" cy="33060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8B890C3-B80F-F0B3-34E2-3305BA519E74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7550775" y="4058155"/>
            <a:ext cx="407779" cy="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2523C8-308E-35F8-AE77-18D70163A54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7550775" y="5177496"/>
            <a:ext cx="400450" cy="12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54C7A3E-88D1-F1F9-247E-199A8651F13B}"/>
              </a:ext>
            </a:extLst>
          </p:cNvPr>
          <p:cNvSpPr txBox="1"/>
          <p:nvPr/>
        </p:nvSpPr>
        <p:spPr>
          <a:xfrm>
            <a:off x="7423581" y="372755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F67AF1-1DCC-A066-94C9-33C7F6344CFC}"/>
              </a:ext>
            </a:extLst>
          </p:cNvPr>
          <p:cNvSpPr txBox="1"/>
          <p:nvPr/>
        </p:nvSpPr>
        <p:spPr>
          <a:xfrm>
            <a:off x="7414505" y="481372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5AF7D-1F56-4872-0241-C779C82F50D2}"/>
              </a:ext>
            </a:extLst>
          </p:cNvPr>
          <p:cNvSpPr txBox="1"/>
          <p:nvPr/>
        </p:nvSpPr>
        <p:spPr>
          <a:xfrm>
            <a:off x="5739703" y="444885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842515D-4020-D23C-5DB1-8A309452EF3F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677987" y="5587760"/>
            <a:ext cx="0" cy="13539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E5C924C-BA6F-47D1-6CC3-F2D9B85542A7}"/>
              </a:ext>
            </a:extLst>
          </p:cNvPr>
          <p:cNvSpPr txBox="1"/>
          <p:nvPr/>
        </p:nvSpPr>
        <p:spPr>
          <a:xfrm>
            <a:off x="5977108" y="543137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D1533537-3A48-2183-7D74-8E3FA5E7C73A}"/>
              </a:ext>
            </a:extLst>
          </p:cNvPr>
          <p:cNvCxnSpPr>
            <a:cxnSpLocks/>
          </p:cNvCxnSpPr>
          <p:nvPr/>
        </p:nvCxnSpPr>
        <p:spPr>
          <a:xfrm flipH="1">
            <a:off x="5675666" y="3248412"/>
            <a:ext cx="4250759" cy="2996320"/>
          </a:xfrm>
          <a:prstGeom prst="bentConnector3">
            <a:avLst>
              <a:gd name="adj1" fmla="val -5378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98FF561-E359-30D8-AC34-BB4CB0797CFB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9783914" y="4052707"/>
            <a:ext cx="387608" cy="5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E543C10-6F2D-AECF-FD8C-AB193683299B}"/>
              </a:ext>
            </a:extLst>
          </p:cNvPr>
          <p:cNvCxnSpPr>
            <a:cxnSpLocks/>
            <a:stCxn id="24" idx="5"/>
          </p:cNvCxnSpPr>
          <p:nvPr/>
        </p:nvCxnSpPr>
        <p:spPr>
          <a:xfrm>
            <a:off x="9760619" y="5205523"/>
            <a:ext cx="404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Data 2">
            <a:extLst>
              <a:ext uri="{FF2B5EF4-FFF2-40B4-BE49-F238E27FC236}">
                <a16:creationId xmlns:a16="http://schemas.microsoft.com/office/drawing/2014/main" id="{7517A09A-2BB0-D25A-D842-2553074284CE}"/>
              </a:ext>
            </a:extLst>
          </p:cNvPr>
          <p:cNvSpPr/>
          <p:nvPr/>
        </p:nvSpPr>
        <p:spPr>
          <a:xfrm>
            <a:off x="7726818" y="2908877"/>
            <a:ext cx="2466103" cy="57501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Invalid marks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F3AAFB9D-C955-F5D1-5AE3-C07848E7AE9B}"/>
              </a:ext>
            </a:extLst>
          </p:cNvPr>
          <p:cNvSpPr/>
          <p:nvPr/>
        </p:nvSpPr>
        <p:spPr>
          <a:xfrm>
            <a:off x="4516582" y="5747958"/>
            <a:ext cx="2551009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‘F’</a:t>
            </a:r>
          </a:p>
        </p:txBody>
      </p:sp>
      <p:sp>
        <p:nvSpPr>
          <p:cNvPr id="14" name="Data 13">
            <a:extLst>
              <a:ext uri="{FF2B5EF4-FFF2-40B4-BE49-F238E27FC236}">
                <a16:creationId xmlns:a16="http://schemas.microsoft.com/office/drawing/2014/main" id="{4E965120-46F1-4401-B30E-D9472F2B7920}"/>
              </a:ext>
            </a:extLst>
          </p:cNvPr>
          <p:cNvSpPr/>
          <p:nvPr/>
        </p:nvSpPr>
        <p:spPr>
          <a:xfrm>
            <a:off x="7774295" y="3886388"/>
            <a:ext cx="2232910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GB" dirty="0"/>
              <a:t>P</a:t>
            </a:r>
            <a:r>
              <a:rPr lang="en-BD" dirty="0"/>
              <a:t>rint ‘A+’</a:t>
            </a:r>
          </a:p>
        </p:txBody>
      </p:sp>
      <p:sp>
        <p:nvSpPr>
          <p:cNvPr id="24" name="Data 23">
            <a:extLst>
              <a:ext uri="{FF2B5EF4-FFF2-40B4-BE49-F238E27FC236}">
                <a16:creationId xmlns:a16="http://schemas.microsoft.com/office/drawing/2014/main" id="{40C8E370-4FA6-2987-59B5-0628EB521A3A}"/>
              </a:ext>
            </a:extLst>
          </p:cNvPr>
          <p:cNvSpPr/>
          <p:nvPr/>
        </p:nvSpPr>
        <p:spPr>
          <a:xfrm>
            <a:off x="7751000" y="5039204"/>
            <a:ext cx="2232910" cy="33263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GB" dirty="0"/>
              <a:t>P</a:t>
            </a:r>
            <a:r>
              <a:rPr lang="en-BD" dirty="0"/>
              <a:t>rint ‘D’</a:t>
            </a:r>
          </a:p>
        </p:txBody>
      </p:sp>
    </p:spTree>
    <p:extLst>
      <p:ext uri="{BB962C8B-B14F-4D97-AF65-F5344CB8AC3E}">
        <p14:creationId xmlns:p14="http://schemas.microsoft.com/office/powerpoint/2010/main" val="51779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F882-3D27-8BCC-167C-BED02EDB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Determine the letter grade from the obtained marks.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816D-6BB3-3628-4E27-5A9E03A91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2" y="1825625"/>
            <a:ext cx="7802881" cy="4667250"/>
          </a:xfrm>
        </p:spPr>
        <p:txBody>
          <a:bodyPr>
            <a:normAutofit lnSpcReduction="10000"/>
          </a:bodyPr>
          <a:lstStyle/>
          <a:p>
            <a:r>
              <a:rPr lang="en-BD" dirty="0"/>
              <a:t>Start</a:t>
            </a:r>
          </a:p>
          <a:p>
            <a:r>
              <a:rPr lang="en-BD" dirty="0"/>
              <a:t>Input mark</a:t>
            </a:r>
          </a:p>
          <a:p>
            <a:r>
              <a:rPr lang="en-BD" dirty="0"/>
              <a:t>Is (mark&gt;100) OR (mark&lt;0)</a:t>
            </a:r>
          </a:p>
          <a:p>
            <a:pPr lvl="1"/>
            <a:r>
              <a:rPr lang="en-BD" dirty="0"/>
              <a:t>Yes, Invalid mark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(mark&gt;=80) AND (mark&lt;=100)</a:t>
            </a:r>
          </a:p>
          <a:p>
            <a:pPr lvl="1"/>
            <a:r>
              <a:rPr lang="en-BD" dirty="0"/>
              <a:t>Yes, print ‘A+’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(mark&gt;=75) AND (mark&lt;=79)</a:t>
            </a:r>
          </a:p>
          <a:p>
            <a:pPr lvl="1"/>
            <a:r>
              <a:rPr lang="en-BD" dirty="0"/>
              <a:t>Yes, print ‘A’ and end</a:t>
            </a:r>
          </a:p>
          <a:p>
            <a:pPr lvl="1"/>
            <a:r>
              <a:rPr lang="en-BD" dirty="0"/>
              <a:t>No, go to next step</a:t>
            </a:r>
          </a:p>
          <a:p>
            <a:endParaRPr lang="en-BD" dirty="0"/>
          </a:p>
          <a:p>
            <a:pPr lvl="1"/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87487-E4AB-FD8B-603A-E9185DF583F7}"/>
              </a:ext>
            </a:extLst>
          </p:cNvPr>
          <p:cNvSpPr txBox="1"/>
          <p:nvPr/>
        </p:nvSpPr>
        <p:spPr>
          <a:xfrm>
            <a:off x="817653" y="169068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151697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4288-646D-F8CA-E625-DF43E628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Determine the letter grade from the obtained marks.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2FFA-9929-F1B5-91CD-2EF531101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262" y="1825625"/>
            <a:ext cx="7968344" cy="4836432"/>
          </a:xfrm>
        </p:spPr>
        <p:txBody>
          <a:bodyPr>
            <a:normAutofit lnSpcReduction="10000"/>
          </a:bodyPr>
          <a:lstStyle/>
          <a:p>
            <a:r>
              <a:rPr lang="en-BD" dirty="0"/>
              <a:t>Is (mark&gt;=70) AND (mark&lt;=74)</a:t>
            </a:r>
          </a:p>
          <a:p>
            <a:pPr lvl="1"/>
            <a:r>
              <a:rPr lang="en-BD" dirty="0"/>
              <a:t>Yes, print ‘A-’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(mark&gt;=65) AND (mark&lt;=69)</a:t>
            </a:r>
          </a:p>
          <a:p>
            <a:pPr lvl="1"/>
            <a:r>
              <a:rPr lang="en-BD" dirty="0"/>
              <a:t>Yes, print ‘B+’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(mark&gt;=60) AND (mark&lt;=64)</a:t>
            </a:r>
          </a:p>
          <a:p>
            <a:pPr lvl="1"/>
            <a:r>
              <a:rPr lang="en-BD" dirty="0"/>
              <a:t>Yes, print ‘B’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(mark&gt;=55) AND (mark&lt;=59)</a:t>
            </a:r>
          </a:p>
          <a:p>
            <a:pPr lvl="1"/>
            <a:r>
              <a:rPr lang="en-BD" dirty="0"/>
              <a:t>Yes, print ‘B-’ and end</a:t>
            </a:r>
          </a:p>
          <a:p>
            <a:pPr lvl="1"/>
            <a:r>
              <a:rPr lang="en-BD" dirty="0"/>
              <a:t>No, go to next step</a:t>
            </a:r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D589B-E68D-B903-81FD-11435403623A}"/>
              </a:ext>
            </a:extLst>
          </p:cNvPr>
          <p:cNvSpPr txBox="1"/>
          <p:nvPr/>
        </p:nvSpPr>
        <p:spPr>
          <a:xfrm>
            <a:off x="817653" y="1690688"/>
            <a:ext cx="17833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</a:t>
            </a:r>
          </a:p>
          <a:p>
            <a:r>
              <a:rPr lang="en-GB" sz="2800" b="1" u="sng" dirty="0"/>
              <a:t>Cont’d: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1267703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8CA4-6A8C-CBD9-F95E-7C8EDBD4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Determine the letter grade from the obtained marks.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89E1-5561-E8E0-5A02-A2CDC4D71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2468" y="1825625"/>
            <a:ext cx="7994469" cy="4667250"/>
          </a:xfrm>
        </p:spPr>
        <p:txBody>
          <a:bodyPr>
            <a:normAutofit lnSpcReduction="10000"/>
          </a:bodyPr>
          <a:lstStyle/>
          <a:p>
            <a:r>
              <a:rPr lang="en-BD" dirty="0"/>
              <a:t>Is (mark&gt;=50) AND (mark&lt;=54)</a:t>
            </a:r>
          </a:p>
          <a:p>
            <a:pPr lvl="1"/>
            <a:r>
              <a:rPr lang="en-BD" dirty="0"/>
              <a:t>Yes, print ‘C+’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(mark&gt;=45) AND (mark&lt;=49)</a:t>
            </a:r>
          </a:p>
          <a:p>
            <a:pPr lvl="1"/>
            <a:r>
              <a:rPr lang="en-BD" dirty="0"/>
              <a:t>Yes, print ‘C’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Is (mark&gt;=40) AND (mark&lt;=44)</a:t>
            </a:r>
          </a:p>
          <a:p>
            <a:pPr lvl="1"/>
            <a:r>
              <a:rPr lang="en-BD" dirty="0"/>
              <a:t>Yes, print ‘D’ and end</a:t>
            </a:r>
          </a:p>
          <a:p>
            <a:pPr lvl="1"/>
            <a:r>
              <a:rPr lang="en-BD" dirty="0"/>
              <a:t>No, go to next step</a:t>
            </a:r>
          </a:p>
          <a:p>
            <a:r>
              <a:rPr lang="en-BD" dirty="0"/>
              <a:t>Otherwise</a:t>
            </a:r>
          </a:p>
          <a:p>
            <a:pPr lvl="1"/>
            <a:r>
              <a:rPr lang="en-BD" dirty="0"/>
              <a:t>Yes, print ‘F’ and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70522-1FD6-0AA5-2592-B644BB6AFB1A}"/>
              </a:ext>
            </a:extLst>
          </p:cNvPr>
          <p:cNvSpPr txBox="1"/>
          <p:nvPr/>
        </p:nvSpPr>
        <p:spPr>
          <a:xfrm>
            <a:off x="817653" y="1690688"/>
            <a:ext cx="17833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</a:t>
            </a:r>
          </a:p>
          <a:p>
            <a:r>
              <a:rPr lang="en-GB" sz="2800" b="1" u="sng" dirty="0"/>
              <a:t>Cont’d 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3467118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999-8F14-579E-0132-C0D4A189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find letter grade from obtained marks</a:t>
            </a:r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099AEB6-8CFB-DE07-0781-0940F9F23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283" y="1690688"/>
            <a:ext cx="4923762" cy="4596990"/>
          </a:xfr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F46A415-DF06-7BC1-E9F1-8E9D1C17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45" y="1690688"/>
            <a:ext cx="5184743" cy="459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57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7A8C-A130-EC01-8D5A-7EC11BE5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find letter grade from obtained marks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A571AF8-554B-D416-24F1-7EA235ACF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5117" y="2194808"/>
            <a:ext cx="5281766" cy="3197323"/>
          </a:xfrm>
        </p:spPr>
      </p:pic>
    </p:spTree>
    <p:extLst>
      <p:ext uri="{BB962C8B-B14F-4D97-AF65-F5344CB8AC3E}">
        <p14:creationId xmlns:p14="http://schemas.microsoft.com/office/powerpoint/2010/main" val="2698909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0F16-3E51-F7D4-E53E-A15BB6C0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roots of a quadratic equation, ax</a:t>
            </a:r>
            <a:r>
              <a:rPr lang="en-GB" baseline="30000" dirty="0"/>
              <a:t>2</a:t>
            </a:r>
            <a:r>
              <a:rPr lang="en-GB" dirty="0"/>
              <a:t>+bx+c.</a:t>
            </a:r>
            <a:endParaRPr lang="en-B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3F1A8-A8D9-219B-7A13-B12E4123FFAF}"/>
              </a:ext>
            </a:extLst>
          </p:cNvPr>
          <p:cNvSpPr/>
          <p:nvPr/>
        </p:nvSpPr>
        <p:spPr>
          <a:xfrm>
            <a:off x="4920095" y="1482220"/>
            <a:ext cx="1704110" cy="4675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1436F-AB83-90BD-F19A-90F65F4982CA}"/>
              </a:ext>
            </a:extLst>
          </p:cNvPr>
          <p:cNvSpPr/>
          <p:nvPr/>
        </p:nvSpPr>
        <p:spPr>
          <a:xfrm>
            <a:off x="4520044" y="2066781"/>
            <a:ext cx="2524981" cy="4000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3 numbers (a,b,c)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67D18C-B0F9-3792-B6FA-BF27D7004B78}"/>
              </a:ext>
            </a:extLst>
          </p:cNvPr>
          <p:cNvSpPr/>
          <p:nvPr/>
        </p:nvSpPr>
        <p:spPr>
          <a:xfrm>
            <a:off x="4540827" y="2599315"/>
            <a:ext cx="2504210" cy="4675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Compute d &lt;- b</a:t>
            </a:r>
            <a:r>
              <a:rPr lang="en-BD" baseline="30000" dirty="0"/>
              <a:t>2 </a:t>
            </a:r>
            <a:r>
              <a:rPr lang="en-BD" dirty="0"/>
              <a:t>-4ac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04B53E1C-FCC2-3FBB-3094-858B13EE5386}"/>
              </a:ext>
            </a:extLst>
          </p:cNvPr>
          <p:cNvSpPr/>
          <p:nvPr/>
        </p:nvSpPr>
        <p:spPr>
          <a:xfrm>
            <a:off x="4998027" y="3179328"/>
            <a:ext cx="1589810" cy="67540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d&gt;0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B5A0A4-956C-9453-8333-6A2A33E4C167}"/>
              </a:ext>
            </a:extLst>
          </p:cNvPr>
          <p:cNvSpPr/>
          <p:nvPr/>
        </p:nvSpPr>
        <p:spPr>
          <a:xfrm>
            <a:off x="858982" y="2809725"/>
            <a:ext cx="2504210" cy="10450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Compute</a:t>
            </a:r>
          </a:p>
          <a:p>
            <a:pPr algn="ctr"/>
            <a:r>
              <a:rPr lang="en-GB" dirty="0"/>
              <a:t>r</a:t>
            </a:r>
            <a:r>
              <a:rPr lang="en-BD" dirty="0"/>
              <a:t>1= -b+ sqrt(d)/(2*a)</a:t>
            </a:r>
          </a:p>
          <a:p>
            <a:pPr algn="ctr"/>
            <a:r>
              <a:rPr lang="en-BD" dirty="0"/>
              <a:t>r2= -b - sqrt(d)/(2*a)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204DA75D-C122-5DF3-EBBB-4E19C518E012}"/>
              </a:ext>
            </a:extLst>
          </p:cNvPr>
          <p:cNvSpPr/>
          <p:nvPr/>
        </p:nvSpPr>
        <p:spPr>
          <a:xfrm>
            <a:off x="7005204" y="3167133"/>
            <a:ext cx="1589810" cy="67540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Is d==0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9D3D4-7D18-66F5-2985-49D56F699032}"/>
              </a:ext>
            </a:extLst>
          </p:cNvPr>
          <p:cNvSpPr/>
          <p:nvPr/>
        </p:nvSpPr>
        <p:spPr>
          <a:xfrm>
            <a:off x="9012382" y="2982332"/>
            <a:ext cx="1783773" cy="10450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Compute</a:t>
            </a:r>
          </a:p>
          <a:p>
            <a:pPr algn="ctr"/>
            <a:r>
              <a:rPr lang="en-GB" dirty="0"/>
              <a:t>r</a:t>
            </a:r>
            <a:r>
              <a:rPr lang="en-BD" dirty="0"/>
              <a:t>1= -b/(2*a)</a:t>
            </a:r>
          </a:p>
          <a:p>
            <a:pPr algn="ctr"/>
            <a:r>
              <a:rPr lang="en-BD" dirty="0"/>
              <a:t>r2= -b /(2*a)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6EAA4F-1C62-6246-0C92-D6C843B2A7A9}"/>
                  </a:ext>
                </a:extLst>
              </p:cNvPr>
              <p:cNvSpPr/>
              <p:nvPr/>
            </p:nvSpPr>
            <p:spPr>
              <a:xfrm>
                <a:off x="4146392" y="3971893"/>
                <a:ext cx="4167645" cy="135420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BD" dirty="0"/>
                  <a:t>Print roots are imaginary</a:t>
                </a:r>
              </a:p>
              <a:p>
                <a:pPr algn="ctr"/>
                <a:r>
                  <a:rPr lang="en-BD" dirty="0"/>
                  <a:t>R1=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𝑠𝑞𝑟𝑡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BD" dirty="0"/>
              </a:p>
              <a:p>
                <a:pPr algn="ctr"/>
                <a:r>
                  <a:rPr lang="en-BD" dirty="0"/>
                  <a:t>R2=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𝑠𝑞𝑟𝑡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BD" dirty="0"/>
              </a:p>
              <a:p>
                <a:pPr algn="ctr"/>
                <a:endParaRPr lang="en-BD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6EAA4F-1C62-6246-0C92-D6C843B2A7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92" y="3971893"/>
                <a:ext cx="4167645" cy="1354208"/>
              </a:xfrm>
              <a:prstGeom prst="rect">
                <a:avLst/>
              </a:prstGeom>
              <a:blipFill>
                <a:blip r:embed="rId2"/>
                <a:stretch>
                  <a:fillRect t="-550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21DEEB-5D8B-2ACE-1664-1EDB0DFAB003}"/>
              </a:ext>
            </a:extLst>
          </p:cNvPr>
          <p:cNvCxnSpPr>
            <a:stCxn id="4" idx="2"/>
          </p:cNvCxnSpPr>
          <p:nvPr/>
        </p:nvCxnSpPr>
        <p:spPr>
          <a:xfrm>
            <a:off x="5772150" y="1949811"/>
            <a:ext cx="0" cy="17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DBE42E-916E-C97A-A1C8-A9949D8BBC2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782535" y="2466829"/>
            <a:ext cx="10397" cy="132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6A4235-5905-7434-C15C-F1A02FC3DDF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792932" y="3066906"/>
            <a:ext cx="0" cy="112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E4367A-6B35-4274-8D4C-6BFBCF8A0A8C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3363192" y="3511834"/>
            <a:ext cx="1634835" cy="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08DA39-46FE-3DB2-2B79-D54DF1CEE2B6}"/>
              </a:ext>
            </a:extLst>
          </p:cNvPr>
          <p:cNvCxnSpPr>
            <a:stCxn id="7" idx="3"/>
          </p:cNvCxnSpPr>
          <p:nvPr/>
        </p:nvCxnSpPr>
        <p:spPr>
          <a:xfrm flipV="1">
            <a:off x="6587837" y="3511834"/>
            <a:ext cx="417367" cy="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5D84B7A-2C55-831A-BD95-E851CE3AC840}"/>
              </a:ext>
            </a:extLst>
          </p:cNvPr>
          <p:cNvSpPr txBox="1"/>
          <p:nvPr/>
        </p:nvSpPr>
        <p:spPr>
          <a:xfrm>
            <a:off x="4197036" y="318406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535231-DA2B-EE04-7296-CAADC25CE2E6}"/>
              </a:ext>
            </a:extLst>
          </p:cNvPr>
          <p:cNvSpPr txBox="1"/>
          <p:nvPr/>
        </p:nvSpPr>
        <p:spPr>
          <a:xfrm>
            <a:off x="6490129" y="3142367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9D1216-9FEC-E66A-DCF6-4859CABA9457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595014" y="3504836"/>
            <a:ext cx="4173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F8E184C-14A7-3BB9-0DF1-A8AFA8C579AD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6950485" y="3122269"/>
            <a:ext cx="129354" cy="15698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6F8C2F1-22B3-98DC-1A6F-968D8B5A53A8}"/>
              </a:ext>
            </a:extLst>
          </p:cNvPr>
          <p:cNvSpPr txBox="1"/>
          <p:nvPr/>
        </p:nvSpPr>
        <p:spPr>
          <a:xfrm>
            <a:off x="8457041" y="314236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6BF939-D9DF-6F6A-5419-57EF57EEA636}"/>
              </a:ext>
            </a:extLst>
          </p:cNvPr>
          <p:cNvSpPr txBox="1"/>
          <p:nvPr/>
        </p:nvSpPr>
        <p:spPr>
          <a:xfrm>
            <a:off x="6561848" y="360256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484DBE-49D6-6F34-80DB-FF69A7CB770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111087" y="3854734"/>
            <a:ext cx="0" cy="289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EA40AA1-04F3-4F73-B8F5-F559ED856E6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9904268" y="4027341"/>
            <a:ext cx="1" cy="337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FF9CB82-0C25-0E5F-A50D-EADBF29E28F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230215" y="5326101"/>
            <a:ext cx="0" cy="198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89A6193F-DD80-6703-CFE7-BCB2470BF06C}"/>
              </a:ext>
            </a:extLst>
          </p:cNvPr>
          <p:cNvSpPr/>
          <p:nvPr/>
        </p:nvSpPr>
        <p:spPr>
          <a:xfrm>
            <a:off x="6033149" y="5932141"/>
            <a:ext cx="394129" cy="4156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CA578B-4B88-15E5-8E38-19E8A944F787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6230214" y="5826761"/>
            <a:ext cx="1" cy="105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58662A70-65D8-FE5B-90EB-D66A73BA2657}"/>
              </a:ext>
            </a:extLst>
          </p:cNvPr>
          <p:cNvCxnSpPr>
            <a:cxnSpLocks/>
            <a:stCxn id="68" idx="4"/>
            <a:endCxn id="57" idx="2"/>
          </p:cNvCxnSpPr>
          <p:nvPr/>
        </p:nvCxnSpPr>
        <p:spPr>
          <a:xfrm rot="16200000" flipH="1">
            <a:off x="3251182" y="3357992"/>
            <a:ext cx="1604484" cy="39594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AAA97060-0D34-6520-D32A-50E15B6AEBA5}"/>
              </a:ext>
            </a:extLst>
          </p:cNvPr>
          <p:cNvCxnSpPr>
            <a:cxnSpLocks/>
            <a:stCxn id="71" idx="4"/>
            <a:endCxn id="57" idx="6"/>
          </p:cNvCxnSpPr>
          <p:nvPr/>
        </p:nvCxnSpPr>
        <p:spPr>
          <a:xfrm rot="5400000">
            <a:off x="7469703" y="3632581"/>
            <a:ext cx="1464954" cy="35498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14BD101-73AA-A467-1642-9E37B667602C}"/>
              </a:ext>
            </a:extLst>
          </p:cNvPr>
          <p:cNvSpPr/>
          <p:nvPr/>
        </p:nvSpPr>
        <p:spPr>
          <a:xfrm>
            <a:off x="5814576" y="6453157"/>
            <a:ext cx="831273" cy="335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Stop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7E0233-1306-0E8F-A5B2-C70B0F0A36BC}"/>
              </a:ext>
            </a:extLst>
          </p:cNvPr>
          <p:cNvCxnSpPr>
            <a:stCxn id="57" idx="4"/>
            <a:endCxn id="64" idx="0"/>
          </p:cNvCxnSpPr>
          <p:nvPr/>
        </p:nvCxnSpPr>
        <p:spPr>
          <a:xfrm flipH="1">
            <a:off x="6230213" y="6347777"/>
            <a:ext cx="1" cy="105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9315B3F-3ACB-41ED-424E-E071F907B91F}"/>
              </a:ext>
            </a:extLst>
          </p:cNvPr>
          <p:cNvSpPr txBox="1"/>
          <p:nvPr/>
        </p:nvSpPr>
        <p:spPr>
          <a:xfrm>
            <a:off x="800966" y="1532987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  <p:sp>
        <p:nvSpPr>
          <p:cNvPr id="68" name="Data 67">
            <a:extLst>
              <a:ext uri="{FF2B5EF4-FFF2-40B4-BE49-F238E27FC236}">
                <a16:creationId xmlns:a16="http://schemas.microsoft.com/office/drawing/2014/main" id="{FE4FFA31-2765-BD4E-8E86-32624DFF5669}"/>
              </a:ext>
            </a:extLst>
          </p:cNvPr>
          <p:cNvSpPr/>
          <p:nvPr/>
        </p:nvSpPr>
        <p:spPr>
          <a:xfrm>
            <a:off x="446950" y="4156784"/>
            <a:ext cx="3253499" cy="378691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r1, r2 values</a:t>
            </a:r>
          </a:p>
        </p:txBody>
      </p:sp>
      <p:sp>
        <p:nvSpPr>
          <p:cNvPr id="70" name="Data 69">
            <a:extLst>
              <a:ext uri="{FF2B5EF4-FFF2-40B4-BE49-F238E27FC236}">
                <a16:creationId xmlns:a16="http://schemas.microsoft.com/office/drawing/2014/main" id="{7B7D81E7-361C-20AA-4F61-419811059DAB}"/>
              </a:ext>
            </a:extLst>
          </p:cNvPr>
          <p:cNvSpPr/>
          <p:nvPr/>
        </p:nvSpPr>
        <p:spPr>
          <a:xfrm>
            <a:off x="4546610" y="5509111"/>
            <a:ext cx="3253499" cy="309147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r1, r2 values</a:t>
            </a:r>
          </a:p>
        </p:txBody>
      </p:sp>
      <p:sp>
        <p:nvSpPr>
          <p:cNvPr id="71" name="Data 70">
            <a:extLst>
              <a:ext uri="{FF2B5EF4-FFF2-40B4-BE49-F238E27FC236}">
                <a16:creationId xmlns:a16="http://schemas.microsoft.com/office/drawing/2014/main" id="{0B1EAAF6-625A-7958-5844-7205C3E30063}"/>
              </a:ext>
            </a:extLst>
          </p:cNvPr>
          <p:cNvSpPr/>
          <p:nvPr/>
        </p:nvSpPr>
        <p:spPr>
          <a:xfrm>
            <a:off x="8386626" y="4365858"/>
            <a:ext cx="3180910" cy="309147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Print r1, r2 values</a:t>
            </a:r>
          </a:p>
        </p:txBody>
      </p:sp>
    </p:spTree>
    <p:extLst>
      <p:ext uri="{BB962C8B-B14F-4D97-AF65-F5344CB8AC3E}">
        <p14:creationId xmlns:p14="http://schemas.microsoft.com/office/powerpoint/2010/main" val="590510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3D54-F8A7-459B-2C0D-CB740D9B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563"/>
            <a:ext cx="10515600" cy="1325563"/>
          </a:xfrm>
        </p:spPr>
        <p:txBody>
          <a:bodyPr/>
          <a:lstStyle/>
          <a:p>
            <a:r>
              <a:rPr lang="en-GB" dirty="0"/>
              <a:t>Find roots of a quadratic equation, ax</a:t>
            </a:r>
            <a:r>
              <a:rPr lang="en-GB" baseline="30000" dirty="0"/>
              <a:t>2</a:t>
            </a:r>
            <a:r>
              <a:rPr lang="en-GB" dirty="0"/>
              <a:t>+bx+c.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D86AB-E39B-AF8F-0CB4-91D48ED4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6410" y="1550126"/>
            <a:ext cx="8497390" cy="5390605"/>
          </a:xfrm>
        </p:spPr>
        <p:txBody>
          <a:bodyPr>
            <a:normAutofit lnSpcReduction="10000"/>
          </a:bodyPr>
          <a:lstStyle/>
          <a:p>
            <a:r>
              <a:rPr lang="en-BD" dirty="0"/>
              <a:t>Start</a:t>
            </a:r>
          </a:p>
          <a:p>
            <a:r>
              <a:rPr lang="en-BD" dirty="0"/>
              <a:t>Input a,b,c</a:t>
            </a:r>
          </a:p>
          <a:p>
            <a:r>
              <a:rPr lang="en-BD" dirty="0"/>
              <a:t>Calculate d=(b*b)-(4*a*c)</a:t>
            </a:r>
          </a:p>
          <a:p>
            <a:r>
              <a:rPr lang="en-BD" dirty="0"/>
              <a:t>Is (d&gt;0):</a:t>
            </a:r>
          </a:p>
          <a:p>
            <a:pPr lvl="1"/>
            <a:r>
              <a:rPr lang="en-BD" dirty="0"/>
              <a:t>Yes, print roots are real and different. </a:t>
            </a:r>
          </a:p>
          <a:p>
            <a:pPr marL="457200" lvl="1" indent="0">
              <a:buNone/>
            </a:pPr>
            <a:r>
              <a:rPr lang="en-GB" dirty="0"/>
              <a:t>    r</a:t>
            </a:r>
            <a:r>
              <a:rPr lang="en-BD" dirty="0"/>
              <a:t>1= -b+ sqrt(d)/(2*a), r2= -b - sqrt(d)/(2*a). </a:t>
            </a:r>
          </a:p>
          <a:p>
            <a:pPr marL="457200" lvl="1" indent="0">
              <a:buNone/>
            </a:pPr>
            <a:r>
              <a:rPr lang="en-BD" dirty="0"/>
              <a:t>    print r1, r2 values and end.</a:t>
            </a:r>
          </a:p>
          <a:p>
            <a:pPr lvl="1"/>
            <a:r>
              <a:rPr lang="en-BD" dirty="0"/>
              <a:t>No, go to next step.</a:t>
            </a:r>
          </a:p>
          <a:p>
            <a:r>
              <a:rPr lang="en-BD" dirty="0"/>
              <a:t>Is (d==0):</a:t>
            </a:r>
          </a:p>
          <a:p>
            <a:pPr lvl="1"/>
            <a:r>
              <a:rPr lang="en-BD" dirty="0"/>
              <a:t>Yes, print roots are real and same.</a:t>
            </a:r>
          </a:p>
          <a:p>
            <a:pPr marL="457200" lvl="1" indent="0">
              <a:buNone/>
            </a:pPr>
            <a:r>
              <a:rPr lang="en-GB" dirty="0"/>
              <a:t>    r</a:t>
            </a:r>
            <a:r>
              <a:rPr lang="en-BD" dirty="0"/>
              <a:t>1= -b/(2*a), r2= -b /(2*a).</a:t>
            </a:r>
          </a:p>
          <a:p>
            <a:pPr marL="457200" lvl="1" indent="0">
              <a:buNone/>
            </a:pPr>
            <a:r>
              <a:rPr lang="en-BD" dirty="0"/>
              <a:t>    print r1, r2 values and end.</a:t>
            </a:r>
          </a:p>
          <a:p>
            <a:pPr lvl="1"/>
            <a:r>
              <a:rPr lang="en-BD" dirty="0"/>
              <a:t>No, go to next step.</a:t>
            </a:r>
          </a:p>
          <a:p>
            <a:endParaRPr lang="en-BD" dirty="0"/>
          </a:p>
          <a:p>
            <a:pPr marL="3657600" lvl="8" indent="0" algn="ctr">
              <a:buNone/>
            </a:pPr>
            <a:endParaRPr lang="en-BD" dirty="0"/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69EDF-F704-EB27-15E5-3A26D9834DE4}"/>
              </a:ext>
            </a:extLst>
          </p:cNvPr>
          <p:cNvSpPr txBox="1"/>
          <p:nvPr/>
        </p:nvSpPr>
        <p:spPr>
          <a:xfrm>
            <a:off x="739275" y="1446848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65481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44D1-4488-4312-FE5C-D0B9C795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roots of a quadratic equation, ax</a:t>
            </a:r>
            <a:r>
              <a:rPr lang="en-GB" baseline="30000" dirty="0"/>
              <a:t>2</a:t>
            </a:r>
            <a:r>
              <a:rPr lang="en-GB" dirty="0"/>
              <a:t>+bx+c.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36083-A216-5EFC-C3D6-3D4A6F870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382" y="1825625"/>
            <a:ext cx="8018417" cy="4351338"/>
          </a:xfrm>
        </p:spPr>
        <p:txBody>
          <a:bodyPr/>
          <a:lstStyle/>
          <a:p>
            <a:r>
              <a:rPr lang="en-BD" dirty="0"/>
              <a:t>Otherwise:</a:t>
            </a:r>
          </a:p>
          <a:p>
            <a:pPr lvl="1"/>
            <a:r>
              <a:rPr lang="en-BD" dirty="0"/>
              <a:t>Yes, </a:t>
            </a:r>
            <a:r>
              <a:rPr lang="en-GB" dirty="0"/>
              <a:t>Print roots are imaginary.</a:t>
            </a:r>
          </a:p>
          <a:p>
            <a:pPr marL="457200" lvl="1" indent="0">
              <a:buNone/>
            </a:pPr>
            <a:r>
              <a:rPr lang="en-GB" dirty="0"/>
              <a:t>    r1=(−𝑏)/(2∗𝑎)+𝑖 (𝑠𝑞𝑟𝑡(𝑎𝑏𝑠(𝑑)))/(2∗𝑎),</a:t>
            </a:r>
          </a:p>
          <a:p>
            <a:pPr marL="457200" lvl="1" indent="0">
              <a:buNone/>
            </a:pPr>
            <a:r>
              <a:rPr lang="en-GB" dirty="0"/>
              <a:t>    r2=(−𝑏)/(2∗𝑎)−𝑖 (𝑠𝑞𝑟𝑡(𝑎𝑏𝑠(𝑑)))/(2∗𝑎) ); </a:t>
            </a:r>
          </a:p>
          <a:p>
            <a:pPr marL="457200" lvl="1" indent="0">
              <a:buNone/>
            </a:pPr>
            <a:r>
              <a:rPr lang="en-GB" dirty="0"/>
              <a:t>    print r1, r2  values and end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BD" dirty="0"/>
          </a:p>
          <a:p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44B8A-5263-F50D-EF13-7A60FA6C23D1}"/>
              </a:ext>
            </a:extLst>
          </p:cNvPr>
          <p:cNvSpPr txBox="1"/>
          <p:nvPr/>
        </p:nvSpPr>
        <p:spPr>
          <a:xfrm>
            <a:off x="817653" y="1690688"/>
            <a:ext cx="17833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</a:t>
            </a:r>
          </a:p>
          <a:p>
            <a:r>
              <a:rPr lang="en-GB" sz="2800" b="1" u="sng" dirty="0"/>
              <a:t>Cont’d 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700770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4322-94B9-0D0C-C24B-7D5E4C94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</a:t>
            </a:r>
            <a:r>
              <a:rPr lang="en-GB" dirty="0"/>
              <a:t>find roots of a quadratic equation, ax</a:t>
            </a:r>
            <a:r>
              <a:rPr lang="en-GB" baseline="30000" dirty="0"/>
              <a:t>2</a:t>
            </a:r>
            <a:r>
              <a:rPr lang="en-GB" dirty="0"/>
              <a:t>+bx+c.</a:t>
            </a:r>
            <a:endParaRPr lang="en-BD" dirty="0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8658F1D-DB53-D3EF-8723-6D9686E84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349" y="1690687"/>
            <a:ext cx="4234542" cy="4718821"/>
          </a:xfr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A68F16-D3B8-1DF1-3134-6A29A20CA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892" y="1690686"/>
            <a:ext cx="6400800" cy="471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9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81F1-7CA8-ADDA-490D-CF07D4E3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</a:t>
            </a:r>
            <a:r>
              <a:rPr lang="en-GB" dirty="0"/>
              <a:t>find roots of a quadratic equation, ax</a:t>
            </a:r>
            <a:r>
              <a:rPr lang="en-GB" baseline="30000" dirty="0"/>
              <a:t>2</a:t>
            </a:r>
            <a:r>
              <a:rPr lang="en-GB" dirty="0"/>
              <a:t>+bx+c.</a:t>
            </a:r>
            <a:endParaRPr lang="en-BD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DA74D1-673A-4C98-F918-A4CF18031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7800" y="2208598"/>
            <a:ext cx="4216400" cy="2679700"/>
          </a:xfrm>
        </p:spPr>
      </p:pic>
    </p:spTree>
    <p:extLst>
      <p:ext uri="{BB962C8B-B14F-4D97-AF65-F5344CB8AC3E}">
        <p14:creationId xmlns:p14="http://schemas.microsoft.com/office/powerpoint/2010/main" val="66971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CA20-2BA6-F41D-5F5D-3FB9708E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Create a simple calculator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A666F1-538C-CE39-DB6D-E8C98D9A5557}"/>
              </a:ext>
            </a:extLst>
          </p:cNvPr>
          <p:cNvSpPr/>
          <p:nvPr/>
        </p:nvSpPr>
        <p:spPr>
          <a:xfrm>
            <a:off x="4270893" y="1772848"/>
            <a:ext cx="1100975" cy="3396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8365A6DF-6775-366F-52A0-02813FC8D0E1}"/>
              </a:ext>
            </a:extLst>
          </p:cNvPr>
          <p:cNvSpPr/>
          <p:nvPr/>
        </p:nvSpPr>
        <p:spPr>
          <a:xfrm>
            <a:off x="3537527" y="2270995"/>
            <a:ext cx="2567709" cy="332509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op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69EE4676-CCB6-AF2A-3A69-862E5D3408DC}"/>
              </a:ext>
            </a:extLst>
          </p:cNvPr>
          <p:cNvSpPr/>
          <p:nvPr/>
        </p:nvSpPr>
        <p:spPr>
          <a:xfrm>
            <a:off x="3290454" y="2819216"/>
            <a:ext cx="3061855" cy="5266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num1,num2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A005A-6E1E-A0E8-00BE-F0323103119D}"/>
              </a:ext>
            </a:extLst>
          </p:cNvPr>
          <p:cNvSpPr/>
          <p:nvPr/>
        </p:nvSpPr>
        <p:spPr>
          <a:xfrm>
            <a:off x="3657601" y="3551483"/>
            <a:ext cx="2327563" cy="314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Switch op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16813745-5693-E3F4-31CA-1AFAF388A857}"/>
              </a:ext>
            </a:extLst>
          </p:cNvPr>
          <p:cNvSpPr/>
          <p:nvPr/>
        </p:nvSpPr>
        <p:spPr>
          <a:xfrm>
            <a:off x="3705626" y="4008403"/>
            <a:ext cx="2231508" cy="4766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BD" dirty="0"/>
              <a:t>ase ‘+’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756F56E1-CFB9-225E-B7DE-9020764D8C56}"/>
              </a:ext>
            </a:extLst>
          </p:cNvPr>
          <p:cNvSpPr/>
          <p:nvPr/>
        </p:nvSpPr>
        <p:spPr>
          <a:xfrm>
            <a:off x="3705626" y="4624652"/>
            <a:ext cx="2231508" cy="4766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BD" dirty="0"/>
              <a:t>ase ‘-’</a:t>
            </a:r>
          </a:p>
        </p:txBody>
      </p:sp>
      <p:sp>
        <p:nvSpPr>
          <p:cNvPr id="10" name="Decision 9">
            <a:extLst>
              <a:ext uri="{FF2B5EF4-FFF2-40B4-BE49-F238E27FC236}">
                <a16:creationId xmlns:a16="http://schemas.microsoft.com/office/drawing/2014/main" id="{E246B745-C3B4-2952-E6F7-D087245CC6C6}"/>
              </a:ext>
            </a:extLst>
          </p:cNvPr>
          <p:cNvSpPr/>
          <p:nvPr/>
        </p:nvSpPr>
        <p:spPr>
          <a:xfrm>
            <a:off x="3720403" y="5429891"/>
            <a:ext cx="2231508" cy="4766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default</a:t>
            </a:r>
            <a:endParaRPr lang="en-BD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71EF26-7CE5-C0EF-6294-F2E126396EAD}"/>
              </a:ext>
            </a:extLst>
          </p:cNvPr>
          <p:cNvSpPr/>
          <p:nvPr/>
        </p:nvSpPr>
        <p:spPr>
          <a:xfrm>
            <a:off x="4285669" y="6153241"/>
            <a:ext cx="1100975" cy="3396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Stop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CAB7CE64-E809-C34B-853A-8B5DDBF741AC}"/>
              </a:ext>
            </a:extLst>
          </p:cNvPr>
          <p:cNvSpPr/>
          <p:nvPr/>
        </p:nvSpPr>
        <p:spPr>
          <a:xfrm>
            <a:off x="6705600" y="4066626"/>
            <a:ext cx="3445164" cy="34224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n1,n2,n1+n2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C647392A-F449-6C64-2583-23152ADCFD7D}"/>
              </a:ext>
            </a:extLst>
          </p:cNvPr>
          <p:cNvSpPr/>
          <p:nvPr/>
        </p:nvSpPr>
        <p:spPr>
          <a:xfrm>
            <a:off x="6612776" y="4691832"/>
            <a:ext cx="3445164" cy="34224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n1,n2,n1-n2</a:t>
            </a:r>
          </a:p>
        </p:txBody>
      </p:sp>
      <p:sp>
        <p:nvSpPr>
          <p:cNvPr id="14" name="Data 13">
            <a:extLst>
              <a:ext uri="{FF2B5EF4-FFF2-40B4-BE49-F238E27FC236}">
                <a16:creationId xmlns:a16="http://schemas.microsoft.com/office/drawing/2014/main" id="{99E0A2AA-6046-B360-F274-7A2DD8635452}"/>
              </a:ext>
            </a:extLst>
          </p:cNvPr>
          <p:cNvSpPr/>
          <p:nvPr/>
        </p:nvSpPr>
        <p:spPr>
          <a:xfrm>
            <a:off x="6354159" y="5429891"/>
            <a:ext cx="3703781" cy="4766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not a valid operator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D06BE7-2F77-52E8-0EAB-FF7EC74ADCBF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821380" y="2112482"/>
            <a:ext cx="1" cy="15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73989B-6D07-B830-AF01-A8FA28DB4A51}"/>
              </a:ext>
            </a:extLst>
          </p:cNvPr>
          <p:cNvCxnSpPr>
            <a:stCxn id="5" idx="4"/>
          </p:cNvCxnSpPr>
          <p:nvPr/>
        </p:nvCxnSpPr>
        <p:spPr>
          <a:xfrm flipH="1">
            <a:off x="4821381" y="2603504"/>
            <a:ext cx="1" cy="229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974B27-6A47-59FD-640C-AA6D314484D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4821382" y="3345820"/>
            <a:ext cx="1" cy="205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3A83F0-A69E-1BAF-295F-CA87CE4B0750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4821380" y="3865519"/>
            <a:ext cx="3" cy="142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EF3767-2654-1EEA-34F1-2A29CB3F728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821380" y="4485007"/>
            <a:ext cx="0" cy="139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4B3CAD-8582-E209-899E-04DECEF38780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4821380" y="5101256"/>
            <a:ext cx="14777" cy="32863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AE9B6BB-9F2B-9C77-D018-9B6B50BB08A7}"/>
              </a:ext>
            </a:extLst>
          </p:cNvPr>
          <p:cNvCxnSpPr>
            <a:stCxn id="8" idx="3"/>
            <a:endCxn id="12" idx="2"/>
          </p:cNvCxnSpPr>
          <p:nvPr/>
        </p:nvCxnSpPr>
        <p:spPr>
          <a:xfrm flipV="1">
            <a:off x="5937134" y="4237748"/>
            <a:ext cx="1112982" cy="8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6DA388-7296-FE63-A3CE-0CEC075A4C84}"/>
              </a:ext>
            </a:extLst>
          </p:cNvPr>
          <p:cNvCxnSpPr>
            <a:stCxn id="9" idx="3"/>
            <a:endCxn id="13" idx="2"/>
          </p:cNvCxnSpPr>
          <p:nvPr/>
        </p:nvCxnSpPr>
        <p:spPr>
          <a:xfrm>
            <a:off x="5937134" y="4862954"/>
            <a:ext cx="1020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7E5B19-8311-B09C-0366-C3543A15CB2A}"/>
              </a:ext>
            </a:extLst>
          </p:cNvPr>
          <p:cNvCxnSpPr>
            <a:stCxn id="10" idx="3"/>
            <a:endCxn id="14" idx="2"/>
          </p:cNvCxnSpPr>
          <p:nvPr/>
        </p:nvCxnSpPr>
        <p:spPr>
          <a:xfrm>
            <a:off x="5951911" y="5668193"/>
            <a:ext cx="7726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218C1107-8D34-5272-3B73-D817F24BB256}"/>
              </a:ext>
            </a:extLst>
          </p:cNvPr>
          <p:cNvCxnSpPr>
            <a:cxnSpLocks/>
            <a:stCxn id="12" idx="5"/>
          </p:cNvCxnSpPr>
          <p:nvPr/>
        </p:nvCxnSpPr>
        <p:spPr>
          <a:xfrm flipH="1">
            <a:off x="4821380" y="4237748"/>
            <a:ext cx="4984868" cy="1792120"/>
          </a:xfrm>
          <a:prstGeom prst="bentConnector3">
            <a:avLst>
              <a:gd name="adj1" fmla="val -114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2E3AF8-D249-BA75-E508-E216D825A55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4836157" y="5906495"/>
            <a:ext cx="0" cy="246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8205198-01D5-C173-3E8B-E91DF9CB4BF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9713424" y="4862954"/>
            <a:ext cx="6682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4FBC1E-8051-BA31-098E-72498DD40FB5}"/>
              </a:ext>
            </a:extLst>
          </p:cNvPr>
          <p:cNvCxnSpPr>
            <a:stCxn id="14" idx="5"/>
          </p:cNvCxnSpPr>
          <p:nvPr/>
        </p:nvCxnSpPr>
        <p:spPr>
          <a:xfrm>
            <a:off x="9687562" y="5668193"/>
            <a:ext cx="6941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F579E3-48A3-2C49-A8A3-8DA9D3B5BE03}"/>
              </a:ext>
            </a:extLst>
          </p:cNvPr>
          <p:cNvSpPr txBox="1"/>
          <p:nvPr/>
        </p:nvSpPr>
        <p:spPr>
          <a:xfrm>
            <a:off x="800966" y="1532987"/>
            <a:ext cx="19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u="sng" dirty="0"/>
              <a:t>Flowchart:</a:t>
            </a:r>
          </a:p>
        </p:txBody>
      </p:sp>
    </p:spTree>
    <p:extLst>
      <p:ext uri="{BB962C8B-B14F-4D97-AF65-F5344CB8AC3E}">
        <p14:creationId xmlns:p14="http://schemas.microsoft.com/office/powerpoint/2010/main" val="4022918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3846-2D72-E5D7-DF6F-F8092754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Create a simple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FD6E1-A0DD-4B7C-A29A-0057E9DAA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782" y="1825625"/>
            <a:ext cx="8534400" cy="4667250"/>
          </a:xfrm>
        </p:spPr>
        <p:txBody>
          <a:bodyPr>
            <a:normAutofit/>
          </a:bodyPr>
          <a:lstStyle/>
          <a:p>
            <a:r>
              <a:rPr lang="en-GB" dirty="0"/>
              <a:t>Declare local variables n1, n2, </a:t>
            </a:r>
            <a:r>
              <a:rPr lang="en-GB" dirty="0" err="1"/>
              <a:t>ch.</a:t>
            </a:r>
            <a:r>
              <a:rPr lang="en-GB" dirty="0"/>
              <a:t> For example, where n1 and n2 take two numeric values and </a:t>
            </a:r>
            <a:r>
              <a:rPr lang="en-GB" dirty="0" err="1"/>
              <a:t>ch</a:t>
            </a:r>
            <a:r>
              <a:rPr lang="en-GB" dirty="0"/>
              <a:t> variable define the operator symbols.</a:t>
            </a:r>
          </a:p>
          <a:p>
            <a:r>
              <a:rPr lang="en-GB" dirty="0"/>
              <a:t> Enter the operator you chose for your operation and give two numbers.</a:t>
            </a:r>
          </a:p>
          <a:p>
            <a:r>
              <a:rPr lang="en-GB" dirty="0"/>
              <a:t>Switch case jump to an operator selected by the user.</a:t>
            </a:r>
          </a:p>
          <a:p>
            <a:r>
              <a:rPr lang="en-GB" dirty="0"/>
              <a:t>Display the operation result.</a:t>
            </a:r>
          </a:p>
          <a:p>
            <a:r>
              <a:rPr lang="en-GB" dirty="0"/>
              <a:t>Exit from the program.</a:t>
            </a:r>
            <a:br>
              <a:rPr lang="en-GB" dirty="0"/>
            </a:br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7EB77-E488-C5B7-58D7-8CDA21A2C7BE}"/>
              </a:ext>
            </a:extLst>
          </p:cNvPr>
          <p:cNvSpPr txBox="1"/>
          <p:nvPr/>
        </p:nvSpPr>
        <p:spPr>
          <a:xfrm>
            <a:off x="838200" y="1706356"/>
            <a:ext cx="1890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/>
              <a:t>Algorithm:</a:t>
            </a:r>
          </a:p>
          <a:p>
            <a:endParaRPr lang="en-BD" sz="2800" b="1" u="sng" dirty="0"/>
          </a:p>
        </p:txBody>
      </p:sp>
    </p:spTree>
    <p:extLst>
      <p:ext uri="{BB962C8B-B14F-4D97-AF65-F5344CB8AC3E}">
        <p14:creationId xmlns:p14="http://schemas.microsoft.com/office/powerpoint/2010/main" val="2910289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60BA-28C5-8537-B210-559E52F2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create a simple calculator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0843190-E547-7650-0AE6-878CA6172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28" y="1607561"/>
            <a:ext cx="5740399" cy="4959823"/>
          </a:xfrm>
          <a:prstGeom prst="rect">
            <a:avLst/>
          </a:prstGeom>
        </p:spPr>
      </p:pic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8196C1E-3082-1F31-C669-AD034F9E0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27" y="1607560"/>
            <a:ext cx="5086349" cy="49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38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A146-74BB-AFB1-A175-662A9192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create a simple calculator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B6C52EB-A3E9-5D58-FF4D-CFF0E21EF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4150" y="2248694"/>
            <a:ext cx="4203700" cy="3505200"/>
          </a:xfrm>
        </p:spPr>
      </p:pic>
    </p:spTree>
    <p:extLst>
      <p:ext uri="{BB962C8B-B14F-4D97-AF65-F5344CB8AC3E}">
        <p14:creationId xmlns:p14="http://schemas.microsoft.com/office/powerpoint/2010/main" val="1329738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4104EE-3FE4-2679-58D4-A1C2469E9423}"/>
              </a:ext>
            </a:extLst>
          </p:cNvPr>
          <p:cNvSpPr txBox="1"/>
          <p:nvPr/>
        </p:nvSpPr>
        <p:spPr>
          <a:xfrm>
            <a:off x="3755198" y="2613890"/>
            <a:ext cx="46816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09646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1990</Words>
  <Application>Microsoft Macintosh PowerPoint</Application>
  <PresentationFormat>Widescreen</PresentationFormat>
  <Paragraphs>359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Office Theme</vt:lpstr>
      <vt:lpstr>Few Programs with Conditional Statements</vt:lpstr>
      <vt:lpstr>Odd or Even Number</vt:lpstr>
      <vt:lpstr>Odd or Even Number</vt:lpstr>
      <vt:lpstr>C Program to Check for Odd or Even Number</vt:lpstr>
      <vt:lpstr>Positive Number or Negative Number or Zero</vt:lpstr>
      <vt:lpstr>Positive Number or Negative Number or Zero</vt:lpstr>
      <vt:lpstr>C Program to Check Positive Number or Negative Number or Zero</vt:lpstr>
      <vt:lpstr>Find the larger of two numbers or determine if they are equal</vt:lpstr>
      <vt:lpstr>Find the larger of two numbers or determine if they are equal</vt:lpstr>
      <vt:lpstr>C program to find the larger of two numbers or determine if they are equal</vt:lpstr>
      <vt:lpstr>Find the smaller of two numbers or determine if they are equal</vt:lpstr>
      <vt:lpstr>Find the smaller of two numbers or determine if they are equal</vt:lpstr>
      <vt:lpstr>C program to find the smaller of two numbers or determine if they are equal</vt:lpstr>
      <vt:lpstr>Find the maximum/minimum of three numbers</vt:lpstr>
      <vt:lpstr>Find the maximum/minimum of three numbers</vt:lpstr>
      <vt:lpstr>C program to find the maximum/minimum of three numbers</vt:lpstr>
      <vt:lpstr>Check if a year is leap year or not</vt:lpstr>
      <vt:lpstr>Check if a year is leap year or not</vt:lpstr>
      <vt:lpstr>C program to check if a year is leap year or not</vt:lpstr>
      <vt:lpstr>Check if a letter is capital or not</vt:lpstr>
      <vt:lpstr>Check if a letter is capital or not</vt:lpstr>
      <vt:lpstr>C program to check if a letter is capital or not</vt:lpstr>
      <vt:lpstr>Check if a letter is vowel or consonant</vt:lpstr>
      <vt:lpstr>Check if a letter is vowel or consonant</vt:lpstr>
      <vt:lpstr>C program to check if a letter is vowel or consonant</vt:lpstr>
      <vt:lpstr>Decide pass or fail from obtained marks</vt:lpstr>
      <vt:lpstr>Decide pass or fail from obtained marks</vt:lpstr>
      <vt:lpstr>C program to decide pass or fail from obtained marks</vt:lpstr>
      <vt:lpstr>Determine the letter grade from the obtained marks.</vt:lpstr>
      <vt:lpstr>Determine the letter grade from the obtained marks.</vt:lpstr>
      <vt:lpstr>Determine the letter grade from the obtained marks.</vt:lpstr>
      <vt:lpstr>Determine the letter grade from the obtained marks.</vt:lpstr>
      <vt:lpstr>C program to find letter grade from obtained marks</vt:lpstr>
      <vt:lpstr>C program to find letter grade from obtained marks</vt:lpstr>
      <vt:lpstr>Find roots of a quadratic equation, ax2+bx+c.</vt:lpstr>
      <vt:lpstr>Find roots of a quadratic equation, ax2+bx+c.</vt:lpstr>
      <vt:lpstr>Find roots of a quadratic equation, ax2+bx+c.</vt:lpstr>
      <vt:lpstr>C program to find roots of a quadratic equation, ax2+bx+c.</vt:lpstr>
      <vt:lpstr>C program to find roots of a quadratic equation, ax2+bx+c.</vt:lpstr>
      <vt:lpstr>Create a simple calculator</vt:lpstr>
      <vt:lpstr>Create a simple calculator</vt:lpstr>
      <vt:lpstr>C program to create a simple calculator</vt:lpstr>
      <vt:lpstr>C program to create a simple calculator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4</cp:revision>
  <dcterms:created xsi:type="dcterms:W3CDTF">2024-09-06T16:25:21Z</dcterms:created>
  <dcterms:modified xsi:type="dcterms:W3CDTF">2024-09-13T18:29:45Z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2024-09-06T21:10:54Z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e5b25513-649b-4fb5-9155-a9ebe9987495</vt:lpwstr>
  </property>
  <property fmtid="{D5CDD505-2E9C-101B-9397-08002B2CF9AE}" pid="7" name="MSIP_Label_defa4170-0d19-0005-0004-bc88714345d2_ActionId">
    <vt:lpwstr>02003b82-7f4c-4804-bff7-ce023c0eaa64</vt:lpwstr>
  </property>
  <property fmtid="{D5CDD505-2E9C-101B-9397-08002B2CF9AE}" pid="8" name="MSIP_Label_defa4170-0d19-0005-0004-bc88714345d2_ContentBits">
    <vt:lpwstr>0</vt:lpwstr>
  </property>
</Properties>
</file>